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Poppins Bold" charset="1" panose="00000800000000000000"/>
      <p:regular r:id="rId19"/>
    </p:embeddedFont>
    <p:embeddedFont>
      <p:font typeface="Poppins" charset="1" panose="000005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2611945">
            <a:off x="14458950" y="4723039"/>
            <a:ext cx="7658100" cy="5426529"/>
            <a:chOff x="0" y="0"/>
            <a:chExt cx="2016948" cy="1429209"/>
          </a:xfrm>
        </p:grpSpPr>
        <p:sp>
          <p:nvSpPr>
            <p:cNvPr name="Freeform 3" id="3"/>
            <p:cNvSpPr/>
            <p:nvPr/>
          </p:nvSpPr>
          <p:spPr>
            <a:xfrm flipH="false" flipV="false" rot="0">
              <a:off x="0" y="0"/>
              <a:ext cx="2016948" cy="1429209"/>
            </a:xfrm>
            <a:custGeom>
              <a:avLst/>
              <a:gdLst/>
              <a:ahLst/>
              <a:cxnLst/>
              <a:rect r="r" b="b" t="t" l="l"/>
              <a:pathLst>
                <a:path h="1429209" w="2016948">
                  <a:moveTo>
                    <a:pt x="51558" y="0"/>
                  </a:moveTo>
                  <a:lnTo>
                    <a:pt x="1965390" y="0"/>
                  </a:lnTo>
                  <a:cubicBezTo>
                    <a:pt x="1979064" y="0"/>
                    <a:pt x="1992178" y="5432"/>
                    <a:pt x="2001847" y="15101"/>
                  </a:cubicBezTo>
                  <a:cubicBezTo>
                    <a:pt x="2011516" y="24770"/>
                    <a:pt x="2016948" y="37884"/>
                    <a:pt x="2016948" y="51558"/>
                  </a:cubicBezTo>
                  <a:lnTo>
                    <a:pt x="2016948" y="1377651"/>
                  </a:lnTo>
                  <a:cubicBezTo>
                    <a:pt x="2016948" y="1391325"/>
                    <a:pt x="2011516" y="1404439"/>
                    <a:pt x="2001847" y="1414108"/>
                  </a:cubicBezTo>
                  <a:cubicBezTo>
                    <a:pt x="1992178" y="1423777"/>
                    <a:pt x="1979064" y="1429209"/>
                    <a:pt x="1965390" y="1429209"/>
                  </a:cubicBezTo>
                  <a:lnTo>
                    <a:pt x="51558" y="1429209"/>
                  </a:lnTo>
                  <a:cubicBezTo>
                    <a:pt x="37884" y="1429209"/>
                    <a:pt x="24770" y="1423777"/>
                    <a:pt x="15101" y="1414108"/>
                  </a:cubicBezTo>
                  <a:cubicBezTo>
                    <a:pt x="5432" y="1404439"/>
                    <a:pt x="0" y="1391325"/>
                    <a:pt x="0" y="1377651"/>
                  </a:cubicBezTo>
                  <a:lnTo>
                    <a:pt x="0" y="51558"/>
                  </a:lnTo>
                  <a:cubicBezTo>
                    <a:pt x="0" y="37884"/>
                    <a:pt x="5432" y="24770"/>
                    <a:pt x="15101" y="15101"/>
                  </a:cubicBezTo>
                  <a:cubicBezTo>
                    <a:pt x="24770" y="5432"/>
                    <a:pt x="37884" y="0"/>
                    <a:pt x="51558" y="0"/>
                  </a:cubicBezTo>
                  <a:close/>
                </a:path>
              </a:pathLst>
            </a:custGeom>
            <a:solidFill>
              <a:srgbClr val="8D0000"/>
            </a:solidFill>
          </p:spPr>
        </p:sp>
        <p:sp>
          <p:nvSpPr>
            <p:cNvPr name="TextBox 4" id="4"/>
            <p:cNvSpPr txBox="true"/>
            <p:nvPr/>
          </p:nvSpPr>
          <p:spPr>
            <a:xfrm>
              <a:off x="0" y="-333375"/>
              <a:ext cx="2016948" cy="1762584"/>
            </a:xfrm>
            <a:prstGeom prst="rect">
              <a:avLst/>
            </a:prstGeom>
          </p:spPr>
          <p:txBody>
            <a:bodyPr anchor="ctr" rtlCol="false" tIns="50800" lIns="50800" bIns="50800" rIns="50800"/>
            <a:lstStyle/>
            <a:p>
              <a:pPr algn="ctr">
                <a:lnSpc>
                  <a:spcPts val="6249"/>
                </a:lnSpc>
              </a:pPr>
            </a:p>
          </p:txBody>
        </p:sp>
      </p:grpSp>
      <p:grpSp>
        <p:nvGrpSpPr>
          <p:cNvPr name="Group 5" id="5"/>
          <p:cNvGrpSpPr/>
          <p:nvPr/>
        </p:nvGrpSpPr>
        <p:grpSpPr>
          <a:xfrm rot="-2611945">
            <a:off x="-614581" y="-1866767"/>
            <a:ext cx="3031341" cy="2798456"/>
            <a:chOff x="0" y="0"/>
            <a:chExt cx="798378" cy="737042"/>
          </a:xfrm>
        </p:grpSpPr>
        <p:sp>
          <p:nvSpPr>
            <p:cNvPr name="Freeform 6" id="6"/>
            <p:cNvSpPr/>
            <p:nvPr/>
          </p:nvSpPr>
          <p:spPr>
            <a:xfrm flipH="false" flipV="false" rot="0">
              <a:off x="0" y="0"/>
              <a:ext cx="798378" cy="737042"/>
            </a:xfrm>
            <a:custGeom>
              <a:avLst/>
              <a:gdLst/>
              <a:ahLst/>
              <a:cxnLst/>
              <a:rect r="r" b="b" t="t" l="l"/>
              <a:pathLst>
                <a:path h="737042" w="798378">
                  <a:moveTo>
                    <a:pt x="130252" y="0"/>
                  </a:moveTo>
                  <a:lnTo>
                    <a:pt x="668126" y="0"/>
                  </a:lnTo>
                  <a:cubicBezTo>
                    <a:pt x="702671" y="0"/>
                    <a:pt x="735801" y="13723"/>
                    <a:pt x="760228" y="38150"/>
                  </a:cubicBezTo>
                  <a:cubicBezTo>
                    <a:pt x="784655" y="62577"/>
                    <a:pt x="798378" y="95707"/>
                    <a:pt x="798378" y="130252"/>
                  </a:cubicBezTo>
                  <a:lnTo>
                    <a:pt x="798378" y="606790"/>
                  </a:lnTo>
                  <a:cubicBezTo>
                    <a:pt x="798378" y="678726"/>
                    <a:pt x="740062" y="737042"/>
                    <a:pt x="668126" y="737042"/>
                  </a:cubicBezTo>
                  <a:lnTo>
                    <a:pt x="130252" y="737042"/>
                  </a:lnTo>
                  <a:cubicBezTo>
                    <a:pt x="58316" y="737042"/>
                    <a:pt x="0" y="678726"/>
                    <a:pt x="0" y="606790"/>
                  </a:cubicBezTo>
                  <a:lnTo>
                    <a:pt x="0" y="130252"/>
                  </a:lnTo>
                  <a:cubicBezTo>
                    <a:pt x="0" y="58316"/>
                    <a:pt x="58316" y="0"/>
                    <a:pt x="130252" y="0"/>
                  </a:cubicBezTo>
                  <a:close/>
                </a:path>
              </a:pathLst>
            </a:custGeom>
            <a:solidFill>
              <a:srgbClr val="8D0000"/>
            </a:solidFill>
          </p:spPr>
        </p:sp>
        <p:sp>
          <p:nvSpPr>
            <p:cNvPr name="TextBox 7" id="7"/>
            <p:cNvSpPr txBox="true"/>
            <p:nvPr/>
          </p:nvSpPr>
          <p:spPr>
            <a:xfrm>
              <a:off x="0" y="-333375"/>
              <a:ext cx="798378" cy="1070417"/>
            </a:xfrm>
            <a:prstGeom prst="rect">
              <a:avLst/>
            </a:prstGeom>
          </p:spPr>
          <p:txBody>
            <a:bodyPr anchor="ctr" rtlCol="false" tIns="50800" lIns="50800" bIns="50800" rIns="50800"/>
            <a:lstStyle/>
            <a:p>
              <a:pPr algn="ctr">
                <a:lnSpc>
                  <a:spcPts val="6249"/>
                </a:lnSpc>
              </a:pPr>
            </a:p>
          </p:txBody>
        </p:sp>
      </p:grpSp>
      <p:grpSp>
        <p:nvGrpSpPr>
          <p:cNvPr name="Group 8" id="8"/>
          <p:cNvGrpSpPr/>
          <p:nvPr/>
        </p:nvGrpSpPr>
        <p:grpSpPr>
          <a:xfrm rot="-2611945">
            <a:off x="12055325" y="9566947"/>
            <a:ext cx="3031341" cy="2798456"/>
            <a:chOff x="0" y="0"/>
            <a:chExt cx="798378" cy="737042"/>
          </a:xfrm>
        </p:grpSpPr>
        <p:sp>
          <p:nvSpPr>
            <p:cNvPr name="Freeform 9" id="9"/>
            <p:cNvSpPr/>
            <p:nvPr/>
          </p:nvSpPr>
          <p:spPr>
            <a:xfrm flipH="false" flipV="false" rot="0">
              <a:off x="0" y="0"/>
              <a:ext cx="798378" cy="737042"/>
            </a:xfrm>
            <a:custGeom>
              <a:avLst/>
              <a:gdLst/>
              <a:ahLst/>
              <a:cxnLst/>
              <a:rect r="r" b="b" t="t" l="l"/>
              <a:pathLst>
                <a:path h="737042" w="798378">
                  <a:moveTo>
                    <a:pt x="130252" y="0"/>
                  </a:moveTo>
                  <a:lnTo>
                    <a:pt x="668126" y="0"/>
                  </a:lnTo>
                  <a:cubicBezTo>
                    <a:pt x="702671" y="0"/>
                    <a:pt x="735801" y="13723"/>
                    <a:pt x="760228" y="38150"/>
                  </a:cubicBezTo>
                  <a:cubicBezTo>
                    <a:pt x="784655" y="62577"/>
                    <a:pt x="798378" y="95707"/>
                    <a:pt x="798378" y="130252"/>
                  </a:cubicBezTo>
                  <a:lnTo>
                    <a:pt x="798378" y="606790"/>
                  </a:lnTo>
                  <a:cubicBezTo>
                    <a:pt x="798378" y="678726"/>
                    <a:pt x="740062" y="737042"/>
                    <a:pt x="668126" y="737042"/>
                  </a:cubicBezTo>
                  <a:lnTo>
                    <a:pt x="130252" y="737042"/>
                  </a:lnTo>
                  <a:cubicBezTo>
                    <a:pt x="58316" y="737042"/>
                    <a:pt x="0" y="678726"/>
                    <a:pt x="0" y="606790"/>
                  </a:cubicBezTo>
                  <a:lnTo>
                    <a:pt x="0" y="130252"/>
                  </a:lnTo>
                  <a:cubicBezTo>
                    <a:pt x="0" y="58316"/>
                    <a:pt x="58316" y="0"/>
                    <a:pt x="130252" y="0"/>
                  </a:cubicBezTo>
                  <a:close/>
                </a:path>
              </a:pathLst>
            </a:custGeom>
            <a:solidFill>
              <a:srgbClr val="C27F7F"/>
            </a:solidFill>
          </p:spPr>
        </p:sp>
        <p:sp>
          <p:nvSpPr>
            <p:cNvPr name="TextBox 10" id="10"/>
            <p:cNvSpPr txBox="true"/>
            <p:nvPr/>
          </p:nvSpPr>
          <p:spPr>
            <a:xfrm>
              <a:off x="0" y="-333375"/>
              <a:ext cx="798378" cy="1070417"/>
            </a:xfrm>
            <a:prstGeom prst="rect">
              <a:avLst/>
            </a:prstGeom>
          </p:spPr>
          <p:txBody>
            <a:bodyPr anchor="ctr" rtlCol="false" tIns="50800" lIns="50800" bIns="50800" rIns="50800"/>
            <a:lstStyle/>
            <a:p>
              <a:pPr algn="ctr">
                <a:lnSpc>
                  <a:spcPts val="6249"/>
                </a:lnSpc>
              </a:pPr>
            </a:p>
          </p:txBody>
        </p:sp>
      </p:grpSp>
      <p:sp>
        <p:nvSpPr>
          <p:cNvPr name="AutoShape 11" id="11"/>
          <p:cNvSpPr/>
          <p:nvPr/>
        </p:nvSpPr>
        <p:spPr>
          <a:xfrm>
            <a:off x="3011342" y="6140237"/>
            <a:ext cx="8918179" cy="19050"/>
          </a:xfrm>
          <a:prstGeom prst="line">
            <a:avLst/>
          </a:prstGeom>
          <a:ln cap="flat" w="47625">
            <a:solidFill>
              <a:srgbClr val="000000"/>
            </a:solidFill>
            <a:prstDash val="sysDash"/>
            <a:headEnd type="none" len="sm" w="sm"/>
            <a:tailEnd type="none" len="sm" w="sm"/>
          </a:ln>
        </p:spPr>
      </p:sp>
      <p:grpSp>
        <p:nvGrpSpPr>
          <p:cNvPr name="Group 12" id="12"/>
          <p:cNvGrpSpPr/>
          <p:nvPr/>
        </p:nvGrpSpPr>
        <p:grpSpPr>
          <a:xfrm rot="-2611945">
            <a:off x="12744473" y="42362"/>
            <a:ext cx="8101900" cy="3702724"/>
            <a:chOff x="0" y="0"/>
            <a:chExt cx="2133834" cy="975203"/>
          </a:xfrm>
        </p:grpSpPr>
        <p:sp>
          <p:nvSpPr>
            <p:cNvPr name="Freeform 13" id="13"/>
            <p:cNvSpPr/>
            <p:nvPr/>
          </p:nvSpPr>
          <p:spPr>
            <a:xfrm flipH="false" flipV="false" rot="0">
              <a:off x="0" y="0"/>
              <a:ext cx="2133834" cy="975203"/>
            </a:xfrm>
            <a:custGeom>
              <a:avLst/>
              <a:gdLst/>
              <a:ahLst/>
              <a:cxnLst/>
              <a:rect r="r" b="b" t="t" l="l"/>
              <a:pathLst>
                <a:path h="975203" w="2133834">
                  <a:moveTo>
                    <a:pt x="48734" y="0"/>
                  </a:moveTo>
                  <a:lnTo>
                    <a:pt x="2085100" y="0"/>
                  </a:lnTo>
                  <a:cubicBezTo>
                    <a:pt x="2112015" y="0"/>
                    <a:pt x="2133834" y="21819"/>
                    <a:pt x="2133834" y="48734"/>
                  </a:cubicBezTo>
                  <a:lnTo>
                    <a:pt x="2133834" y="926469"/>
                  </a:lnTo>
                  <a:cubicBezTo>
                    <a:pt x="2133834" y="953384"/>
                    <a:pt x="2112015" y="975203"/>
                    <a:pt x="2085100" y="975203"/>
                  </a:cubicBezTo>
                  <a:lnTo>
                    <a:pt x="48734" y="975203"/>
                  </a:lnTo>
                  <a:cubicBezTo>
                    <a:pt x="21819" y="975203"/>
                    <a:pt x="0" y="953384"/>
                    <a:pt x="0" y="926469"/>
                  </a:cubicBezTo>
                  <a:lnTo>
                    <a:pt x="0" y="48734"/>
                  </a:lnTo>
                  <a:cubicBezTo>
                    <a:pt x="0" y="21819"/>
                    <a:pt x="21819" y="0"/>
                    <a:pt x="48734" y="0"/>
                  </a:cubicBezTo>
                  <a:close/>
                </a:path>
              </a:pathLst>
            </a:custGeom>
            <a:solidFill>
              <a:srgbClr val="C27F7F"/>
            </a:solidFill>
          </p:spPr>
        </p:sp>
        <p:sp>
          <p:nvSpPr>
            <p:cNvPr name="TextBox 14" id="14"/>
            <p:cNvSpPr txBox="true"/>
            <p:nvPr/>
          </p:nvSpPr>
          <p:spPr>
            <a:xfrm>
              <a:off x="0" y="-333375"/>
              <a:ext cx="2133834" cy="1308578"/>
            </a:xfrm>
            <a:prstGeom prst="rect">
              <a:avLst/>
            </a:prstGeom>
          </p:spPr>
          <p:txBody>
            <a:bodyPr anchor="ctr" rtlCol="false" tIns="50800" lIns="50800" bIns="50800" rIns="50800"/>
            <a:lstStyle/>
            <a:p>
              <a:pPr algn="ctr">
                <a:lnSpc>
                  <a:spcPts val="6249"/>
                </a:lnSpc>
              </a:pPr>
            </a:p>
          </p:txBody>
        </p:sp>
      </p:grpSp>
      <p:sp>
        <p:nvSpPr>
          <p:cNvPr name="TextBox 15" id="15"/>
          <p:cNvSpPr txBox="true"/>
          <p:nvPr/>
        </p:nvSpPr>
        <p:spPr>
          <a:xfrm rot="0">
            <a:off x="2134255" y="4263964"/>
            <a:ext cx="10075196" cy="1314450"/>
          </a:xfrm>
          <a:prstGeom prst="rect">
            <a:avLst/>
          </a:prstGeom>
        </p:spPr>
        <p:txBody>
          <a:bodyPr anchor="t" rtlCol="false" tIns="0" lIns="0" bIns="0" rIns="0">
            <a:spAutoFit/>
          </a:bodyPr>
          <a:lstStyle/>
          <a:p>
            <a:pPr algn="ctr">
              <a:lnSpc>
                <a:spcPts val="4949"/>
              </a:lnSpc>
            </a:pPr>
            <a:r>
              <a:rPr lang="en-US" b="true" sz="4999" spc="1019">
                <a:solidFill>
                  <a:srgbClr val="8D0000"/>
                </a:solidFill>
                <a:latin typeface="Poppins Bold"/>
                <a:ea typeface="Poppins Bold"/>
                <a:cs typeface="Poppins Bold"/>
                <a:sym typeface="Poppins Bold"/>
              </a:rPr>
              <a:t>CUSTOMER BEHAVIOR ANALYSIS</a:t>
            </a:r>
          </a:p>
        </p:txBody>
      </p:sp>
      <p:sp>
        <p:nvSpPr>
          <p:cNvPr name="TextBox 16" id="16"/>
          <p:cNvSpPr txBox="true"/>
          <p:nvPr/>
        </p:nvSpPr>
        <p:spPr>
          <a:xfrm rot="0">
            <a:off x="3011301" y="7697574"/>
            <a:ext cx="5232878" cy="483870"/>
          </a:xfrm>
          <a:prstGeom prst="rect">
            <a:avLst/>
          </a:prstGeom>
        </p:spPr>
        <p:txBody>
          <a:bodyPr anchor="t" rtlCol="false" tIns="0" lIns="0" bIns="0" rIns="0">
            <a:spAutoFit/>
          </a:bodyPr>
          <a:lstStyle/>
          <a:p>
            <a:pPr algn="l">
              <a:lnSpc>
                <a:spcPts val="3779"/>
              </a:lnSpc>
            </a:pPr>
            <a:r>
              <a:rPr lang="en-US" sz="2699" spc="134" b="true">
                <a:solidFill>
                  <a:srgbClr val="2E2E2E"/>
                </a:solidFill>
                <a:latin typeface="Poppins Bold"/>
                <a:ea typeface="Poppins Bold"/>
                <a:cs typeface="Poppins Bold"/>
                <a:sym typeface="Poppins Bold"/>
              </a:rPr>
              <a:t>DAB303 –Project 3</a:t>
            </a:r>
          </a:p>
        </p:txBody>
      </p:sp>
      <p:grpSp>
        <p:nvGrpSpPr>
          <p:cNvPr name="Group 17" id="17"/>
          <p:cNvGrpSpPr/>
          <p:nvPr/>
        </p:nvGrpSpPr>
        <p:grpSpPr>
          <a:xfrm rot="-2611945">
            <a:off x="10808920" y="-3972270"/>
            <a:ext cx="8101900" cy="3702724"/>
            <a:chOff x="0" y="0"/>
            <a:chExt cx="2133834" cy="975203"/>
          </a:xfrm>
        </p:grpSpPr>
        <p:sp>
          <p:nvSpPr>
            <p:cNvPr name="Freeform 18" id="18"/>
            <p:cNvSpPr/>
            <p:nvPr/>
          </p:nvSpPr>
          <p:spPr>
            <a:xfrm flipH="false" flipV="false" rot="0">
              <a:off x="0" y="0"/>
              <a:ext cx="2133834" cy="975203"/>
            </a:xfrm>
            <a:custGeom>
              <a:avLst/>
              <a:gdLst/>
              <a:ahLst/>
              <a:cxnLst/>
              <a:rect r="r" b="b" t="t" l="l"/>
              <a:pathLst>
                <a:path h="975203" w="2133834">
                  <a:moveTo>
                    <a:pt x="48734" y="0"/>
                  </a:moveTo>
                  <a:lnTo>
                    <a:pt x="2085100" y="0"/>
                  </a:lnTo>
                  <a:cubicBezTo>
                    <a:pt x="2112015" y="0"/>
                    <a:pt x="2133834" y="21819"/>
                    <a:pt x="2133834" y="48734"/>
                  </a:cubicBezTo>
                  <a:lnTo>
                    <a:pt x="2133834" y="926469"/>
                  </a:lnTo>
                  <a:cubicBezTo>
                    <a:pt x="2133834" y="953384"/>
                    <a:pt x="2112015" y="975203"/>
                    <a:pt x="2085100" y="975203"/>
                  </a:cubicBezTo>
                  <a:lnTo>
                    <a:pt x="48734" y="975203"/>
                  </a:lnTo>
                  <a:cubicBezTo>
                    <a:pt x="21819" y="975203"/>
                    <a:pt x="0" y="953384"/>
                    <a:pt x="0" y="926469"/>
                  </a:cubicBezTo>
                  <a:lnTo>
                    <a:pt x="0" y="48734"/>
                  </a:lnTo>
                  <a:cubicBezTo>
                    <a:pt x="0" y="21819"/>
                    <a:pt x="21819" y="0"/>
                    <a:pt x="48734" y="0"/>
                  </a:cubicBezTo>
                  <a:close/>
                </a:path>
              </a:pathLst>
            </a:custGeom>
            <a:solidFill>
              <a:srgbClr val="FFE9E9"/>
            </a:solidFill>
          </p:spPr>
        </p:sp>
        <p:sp>
          <p:nvSpPr>
            <p:cNvPr name="TextBox 19" id="19"/>
            <p:cNvSpPr txBox="true"/>
            <p:nvPr/>
          </p:nvSpPr>
          <p:spPr>
            <a:xfrm>
              <a:off x="0" y="-333375"/>
              <a:ext cx="2133834" cy="1308578"/>
            </a:xfrm>
            <a:prstGeom prst="rect">
              <a:avLst/>
            </a:prstGeom>
          </p:spPr>
          <p:txBody>
            <a:bodyPr anchor="ctr" rtlCol="false" tIns="50800" lIns="50800" bIns="50800" rIns="50800"/>
            <a:lstStyle/>
            <a:p>
              <a:pPr algn="ctr">
                <a:lnSpc>
                  <a:spcPts val="6249"/>
                </a:lnSpc>
              </a:pPr>
            </a:p>
          </p:txBody>
        </p:sp>
      </p:grpSp>
      <p:grpSp>
        <p:nvGrpSpPr>
          <p:cNvPr name="Group 20" id="20"/>
          <p:cNvGrpSpPr/>
          <p:nvPr/>
        </p:nvGrpSpPr>
        <p:grpSpPr>
          <a:xfrm rot="-2611945">
            <a:off x="-6128725" y="8307085"/>
            <a:ext cx="8101900" cy="3702724"/>
            <a:chOff x="0" y="0"/>
            <a:chExt cx="2133834" cy="975203"/>
          </a:xfrm>
        </p:grpSpPr>
        <p:sp>
          <p:nvSpPr>
            <p:cNvPr name="Freeform 21" id="21"/>
            <p:cNvSpPr/>
            <p:nvPr/>
          </p:nvSpPr>
          <p:spPr>
            <a:xfrm flipH="false" flipV="false" rot="0">
              <a:off x="0" y="0"/>
              <a:ext cx="2133834" cy="975203"/>
            </a:xfrm>
            <a:custGeom>
              <a:avLst/>
              <a:gdLst/>
              <a:ahLst/>
              <a:cxnLst/>
              <a:rect r="r" b="b" t="t" l="l"/>
              <a:pathLst>
                <a:path h="975203" w="2133834">
                  <a:moveTo>
                    <a:pt x="48734" y="0"/>
                  </a:moveTo>
                  <a:lnTo>
                    <a:pt x="2085100" y="0"/>
                  </a:lnTo>
                  <a:cubicBezTo>
                    <a:pt x="2112015" y="0"/>
                    <a:pt x="2133834" y="21819"/>
                    <a:pt x="2133834" y="48734"/>
                  </a:cubicBezTo>
                  <a:lnTo>
                    <a:pt x="2133834" y="926469"/>
                  </a:lnTo>
                  <a:cubicBezTo>
                    <a:pt x="2133834" y="953384"/>
                    <a:pt x="2112015" y="975203"/>
                    <a:pt x="2085100" y="975203"/>
                  </a:cubicBezTo>
                  <a:lnTo>
                    <a:pt x="48734" y="975203"/>
                  </a:lnTo>
                  <a:cubicBezTo>
                    <a:pt x="21819" y="975203"/>
                    <a:pt x="0" y="953384"/>
                    <a:pt x="0" y="926469"/>
                  </a:cubicBezTo>
                  <a:lnTo>
                    <a:pt x="0" y="48734"/>
                  </a:lnTo>
                  <a:cubicBezTo>
                    <a:pt x="0" y="21819"/>
                    <a:pt x="21819" y="0"/>
                    <a:pt x="48734" y="0"/>
                  </a:cubicBezTo>
                  <a:close/>
                </a:path>
              </a:pathLst>
            </a:custGeom>
            <a:solidFill>
              <a:srgbClr val="FFE9E9"/>
            </a:solidFill>
          </p:spPr>
        </p:sp>
        <p:sp>
          <p:nvSpPr>
            <p:cNvPr name="TextBox 22" id="22"/>
            <p:cNvSpPr txBox="true"/>
            <p:nvPr/>
          </p:nvSpPr>
          <p:spPr>
            <a:xfrm>
              <a:off x="0" y="-333375"/>
              <a:ext cx="2133834" cy="1308578"/>
            </a:xfrm>
            <a:prstGeom prst="rect">
              <a:avLst/>
            </a:prstGeom>
          </p:spPr>
          <p:txBody>
            <a:bodyPr anchor="ctr" rtlCol="false" tIns="50800" lIns="50800" bIns="50800" rIns="50800"/>
            <a:lstStyle/>
            <a:p>
              <a:pPr algn="ctr">
                <a:lnSpc>
                  <a:spcPts val="6249"/>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3503507">
            <a:off x="8249399" y="1316288"/>
            <a:ext cx="12583451" cy="6795882"/>
            <a:chOff x="0" y="0"/>
            <a:chExt cx="3314160" cy="1789862"/>
          </a:xfrm>
        </p:grpSpPr>
        <p:sp>
          <p:nvSpPr>
            <p:cNvPr name="Freeform 3" id="3"/>
            <p:cNvSpPr/>
            <p:nvPr/>
          </p:nvSpPr>
          <p:spPr>
            <a:xfrm flipH="false" flipV="false" rot="0">
              <a:off x="0" y="0"/>
              <a:ext cx="3314160" cy="1789862"/>
            </a:xfrm>
            <a:custGeom>
              <a:avLst/>
              <a:gdLst/>
              <a:ahLst/>
              <a:cxnLst/>
              <a:rect r="r" b="b" t="t" l="l"/>
              <a:pathLst>
                <a:path h="1789862" w="3314160">
                  <a:moveTo>
                    <a:pt x="31378" y="0"/>
                  </a:moveTo>
                  <a:lnTo>
                    <a:pt x="3282783" y="0"/>
                  </a:lnTo>
                  <a:cubicBezTo>
                    <a:pt x="3300112" y="0"/>
                    <a:pt x="3314160" y="14048"/>
                    <a:pt x="3314160" y="31378"/>
                  </a:cubicBezTo>
                  <a:lnTo>
                    <a:pt x="3314160" y="1758484"/>
                  </a:lnTo>
                  <a:cubicBezTo>
                    <a:pt x="3314160" y="1775814"/>
                    <a:pt x="3300112" y="1789862"/>
                    <a:pt x="3282783" y="1789862"/>
                  </a:cubicBezTo>
                  <a:lnTo>
                    <a:pt x="31378" y="1789862"/>
                  </a:lnTo>
                  <a:cubicBezTo>
                    <a:pt x="14048" y="1789862"/>
                    <a:pt x="0" y="1775814"/>
                    <a:pt x="0" y="1758484"/>
                  </a:cubicBezTo>
                  <a:lnTo>
                    <a:pt x="0" y="31378"/>
                  </a:lnTo>
                  <a:cubicBezTo>
                    <a:pt x="0" y="14048"/>
                    <a:pt x="14048" y="0"/>
                    <a:pt x="31378" y="0"/>
                  </a:cubicBezTo>
                  <a:close/>
                </a:path>
              </a:pathLst>
            </a:custGeom>
            <a:solidFill>
              <a:srgbClr val="FFE9E9"/>
            </a:solidFill>
          </p:spPr>
        </p:sp>
        <p:sp>
          <p:nvSpPr>
            <p:cNvPr name="TextBox 4" id="4"/>
            <p:cNvSpPr txBox="true"/>
            <p:nvPr/>
          </p:nvSpPr>
          <p:spPr>
            <a:xfrm>
              <a:off x="0" y="-333375"/>
              <a:ext cx="3314160" cy="2123237"/>
            </a:xfrm>
            <a:prstGeom prst="rect">
              <a:avLst/>
            </a:prstGeom>
          </p:spPr>
          <p:txBody>
            <a:bodyPr anchor="ctr" rtlCol="false" tIns="50800" lIns="50800" bIns="50800" rIns="50800"/>
            <a:lstStyle/>
            <a:p>
              <a:pPr algn="ctr">
                <a:lnSpc>
                  <a:spcPts val="6249"/>
                </a:lnSpc>
              </a:pPr>
            </a:p>
          </p:txBody>
        </p:sp>
      </p:grpSp>
      <p:grpSp>
        <p:nvGrpSpPr>
          <p:cNvPr name="Group 5" id="5"/>
          <p:cNvGrpSpPr/>
          <p:nvPr/>
        </p:nvGrpSpPr>
        <p:grpSpPr>
          <a:xfrm rot="0">
            <a:off x="10428400" y="1493268"/>
            <a:ext cx="6830900" cy="7300465"/>
            <a:chOff x="0" y="0"/>
            <a:chExt cx="1799085" cy="1922756"/>
          </a:xfrm>
        </p:grpSpPr>
        <p:sp>
          <p:nvSpPr>
            <p:cNvPr name="Freeform 6" id="6"/>
            <p:cNvSpPr/>
            <p:nvPr/>
          </p:nvSpPr>
          <p:spPr>
            <a:xfrm flipH="false" flipV="false" rot="0">
              <a:off x="0" y="0"/>
              <a:ext cx="1799085" cy="1922756"/>
            </a:xfrm>
            <a:custGeom>
              <a:avLst/>
              <a:gdLst/>
              <a:ahLst/>
              <a:cxnLst/>
              <a:rect r="r" b="b" t="t" l="l"/>
              <a:pathLst>
                <a:path h="1922756" w="1799085">
                  <a:moveTo>
                    <a:pt x="57802" y="0"/>
                  </a:moveTo>
                  <a:lnTo>
                    <a:pt x="1741283" y="0"/>
                  </a:lnTo>
                  <a:cubicBezTo>
                    <a:pt x="1756613" y="0"/>
                    <a:pt x="1771315" y="6090"/>
                    <a:pt x="1782155" y="16930"/>
                  </a:cubicBezTo>
                  <a:cubicBezTo>
                    <a:pt x="1792995" y="27770"/>
                    <a:pt x="1799085" y="42472"/>
                    <a:pt x="1799085" y="57802"/>
                  </a:cubicBezTo>
                  <a:lnTo>
                    <a:pt x="1799085" y="1864955"/>
                  </a:lnTo>
                  <a:cubicBezTo>
                    <a:pt x="1799085" y="1896878"/>
                    <a:pt x="1773206" y="1922756"/>
                    <a:pt x="1741283" y="1922756"/>
                  </a:cubicBezTo>
                  <a:lnTo>
                    <a:pt x="57802" y="1922756"/>
                  </a:lnTo>
                  <a:cubicBezTo>
                    <a:pt x="25879" y="1922756"/>
                    <a:pt x="0" y="1896878"/>
                    <a:pt x="0" y="1864955"/>
                  </a:cubicBezTo>
                  <a:lnTo>
                    <a:pt x="0" y="57802"/>
                  </a:lnTo>
                  <a:cubicBezTo>
                    <a:pt x="0" y="25879"/>
                    <a:pt x="25879" y="0"/>
                    <a:pt x="57802" y="0"/>
                  </a:cubicBezTo>
                  <a:close/>
                </a:path>
              </a:pathLst>
            </a:custGeom>
            <a:solidFill>
              <a:srgbClr val="8D2B2B"/>
            </a:solidFill>
          </p:spPr>
        </p:sp>
        <p:sp>
          <p:nvSpPr>
            <p:cNvPr name="TextBox 7" id="7"/>
            <p:cNvSpPr txBox="true"/>
            <p:nvPr/>
          </p:nvSpPr>
          <p:spPr>
            <a:xfrm>
              <a:off x="0" y="-333375"/>
              <a:ext cx="1799085" cy="2256131"/>
            </a:xfrm>
            <a:prstGeom prst="rect">
              <a:avLst/>
            </a:prstGeom>
          </p:spPr>
          <p:txBody>
            <a:bodyPr anchor="ctr" rtlCol="false" tIns="50800" lIns="50800" bIns="50800" rIns="50800"/>
            <a:lstStyle/>
            <a:p>
              <a:pPr algn="ctr">
                <a:lnSpc>
                  <a:spcPts val="6249"/>
                </a:lnSpc>
              </a:pPr>
            </a:p>
          </p:txBody>
        </p:sp>
      </p:grpSp>
      <p:sp>
        <p:nvSpPr>
          <p:cNvPr name="AutoShape 8" id="8"/>
          <p:cNvSpPr/>
          <p:nvPr/>
        </p:nvSpPr>
        <p:spPr>
          <a:xfrm>
            <a:off x="-2185362" y="3210262"/>
            <a:ext cx="8918179" cy="19050"/>
          </a:xfrm>
          <a:prstGeom prst="line">
            <a:avLst/>
          </a:prstGeom>
          <a:ln cap="flat" w="28575">
            <a:solidFill>
              <a:srgbClr val="000000"/>
            </a:solidFill>
            <a:prstDash val="solid"/>
            <a:headEnd type="none" len="sm" w="sm"/>
            <a:tailEnd type="none" len="sm" w="sm"/>
          </a:ln>
        </p:spPr>
      </p:sp>
      <p:grpSp>
        <p:nvGrpSpPr>
          <p:cNvPr name="Group 9" id="9"/>
          <p:cNvGrpSpPr/>
          <p:nvPr/>
        </p:nvGrpSpPr>
        <p:grpSpPr>
          <a:xfrm rot="0">
            <a:off x="10804860" y="1888814"/>
            <a:ext cx="6077981" cy="6509372"/>
            <a:chOff x="0" y="0"/>
            <a:chExt cx="787019" cy="842878"/>
          </a:xfrm>
        </p:grpSpPr>
        <p:sp>
          <p:nvSpPr>
            <p:cNvPr name="Freeform 10" id="10"/>
            <p:cNvSpPr/>
            <p:nvPr/>
          </p:nvSpPr>
          <p:spPr>
            <a:xfrm flipH="false" flipV="false" rot="0">
              <a:off x="0" y="0"/>
              <a:ext cx="787019" cy="842878"/>
            </a:xfrm>
            <a:custGeom>
              <a:avLst/>
              <a:gdLst/>
              <a:ahLst/>
              <a:cxnLst/>
              <a:rect r="r" b="b" t="t" l="l"/>
              <a:pathLst>
                <a:path h="842878" w="787019">
                  <a:moveTo>
                    <a:pt x="0" y="0"/>
                  </a:moveTo>
                  <a:lnTo>
                    <a:pt x="787019" y="0"/>
                  </a:lnTo>
                  <a:lnTo>
                    <a:pt x="787019" y="842878"/>
                  </a:lnTo>
                  <a:lnTo>
                    <a:pt x="0" y="842878"/>
                  </a:lnTo>
                  <a:close/>
                </a:path>
              </a:pathLst>
            </a:custGeom>
            <a:blipFill>
              <a:blip r:embed="rId2"/>
              <a:stretch>
                <a:fillRect l="-14935" t="0" r="-82479" b="0"/>
              </a:stretch>
            </a:blipFill>
          </p:spPr>
        </p:sp>
      </p:grpSp>
      <p:sp>
        <p:nvSpPr>
          <p:cNvPr name="TextBox 11" id="11"/>
          <p:cNvSpPr txBox="true"/>
          <p:nvPr/>
        </p:nvSpPr>
        <p:spPr>
          <a:xfrm rot="0">
            <a:off x="873807" y="775693"/>
            <a:ext cx="12113292" cy="580366"/>
          </a:xfrm>
          <a:prstGeom prst="rect">
            <a:avLst/>
          </a:prstGeom>
        </p:spPr>
        <p:txBody>
          <a:bodyPr anchor="t" rtlCol="false" tIns="0" lIns="0" bIns="0" rIns="0">
            <a:spAutoFit/>
          </a:bodyPr>
          <a:lstStyle/>
          <a:p>
            <a:pPr algn="l">
              <a:lnSpc>
                <a:spcPts val="4100"/>
              </a:lnSpc>
            </a:pPr>
            <a:r>
              <a:rPr lang="en-US" sz="4100" b="true">
                <a:solidFill>
                  <a:srgbClr val="8D0000"/>
                </a:solidFill>
                <a:latin typeface="Poppins Bold"/>
                <a:ea typeface="Poppins Bold"/>
                <a:cs typeface="Poppins Bold"/>
                <a:sym typeface="Poppins Bold"/>
              </a:rPr>
              <a:t>BUSINESS OBJECTIVE OF THE PROJECT</a:t>
            </a:r>
          </a:p>
        </p:txBody>
      </p:sp>
      <p:sp>
        <p:nvSpPr>
          <p:cNvPr name="TextBox 12" id="12"/>
          <p:cNvSpPr txBox="true"/>
          <p:nvPr/>
        </p:nvSpPr>
        <p:spPr>
          <a:xfrm rot="0">
            <a:off x="873807" y="3601929"/>
            <a:ext cx="7818024" cy="4827543"/>
          </a:xfrm>
          <a:prstGeom prst="rect">
            <a:avLst/>
          </a:prstGeom>
        </p:spPr>
        <p:txBody>
          <a:bodyPr anchor="t" rtlCol="false" tIns="0" lIns="0" bIns="0" rIns="0">
            <a:spAutoFit/>
          </a:bodyPr>
          <a:lstStyle/>
          <a:p>
            <a:pPr algn="l" marL="561336" indent="-280668" lvl="1">
              <a:lnSpc>
                <a:spcPts val="3509"/>
              </a:lnSpc>
              <a:buFont typeface="Arial"/>
              <a:buChar char="•"/>
            </a:pPr>
            <a:r>
              <a:rPr lang="en-US" b="true" sz="2599" spc="80">
                <a:solidFill>
                  <a:srgbClr val="2B2B2B"/>
                </a:solidFill>
                <a:latin typeface="Poppins Bold"/>
                <a:ea typeface="Poppins Bold"/>
                <a:cs typeface="Poppins Bold"/>
                <a:sym typeface="Poppins Bold"/>
              </a:rPr>
              <a:t>Understand and gain insights from an e-Commerce dataset, by performing various exploratory data analysis, data visualization, and data modelling tasks</a:t>
            </a:r>
          </a:p>
          <a:p>
            <a:pPr algn="l">
              <a:lnSpc>
                <a:spcPts val="3509"/>
              </a:lnSpc>
            </a:pPr>
          </a:p>
          <a:p>
            <a:pPr algn="l" marL="561336" indent="-280668" lvl="1">
              <a:lnSpc>
                <a:spcPts val="3509"/>
              </a:lnSpc>
              <a:buFont typeface="Arial"/>
              <a:buChar char="•"/>
            </a:pPr>
            <a:r>
              <a:rPr lang="en-US" b="true" sz="2599" spc="80">
                <a:solidFill>
                  <a:srgbClr val="2B2B2B"/>
                </a:solidFill>
                <a:latin typeface="Poppins Bold"/>
                <a:ea typeface="Poppins Bold"/>
                <a:cs typeface="Poppins Bold"/>
                <a:sym typeface="Poppins Bold"/>
              </a:rPr>
              <a:t>Focus specifically on Customer Behavior Analysis (notions, applications, etc.)</a:t>
            </a:r>
          </a:p>
          <a:p>
            <a:pPr algn="l">
              <a:lnSpc>
                <a:spcPts val="3509"/>
              </a:lnSpc>
            </a:pPr>
          </a:p>
          <a:p>
            <a:pPr algn="l" marL="561336" indent="-280668" lvl="1">
              <a:lnSpc>
                <a:spcPts val="3509"/>
              </a:lnSpc>
              <a:buFont typeface="Arial"/>
              <a:buChar char="•"/>
            </a:pPr>
            <a:r>
              <a:rPr lang="en-US" b="true" sz="2599" spc="80">
                <a:solidFill>
                  <a:srgbClr val="2B2B2B"/>
                </a:solidFill>
                <a:latin typeface="Poppins Bold"/>
                <a:ea typeface="Poppins Bold"/>
                <a:cs typeface="Poppins Bold"/>
                <a:sym typeface="Poppins Bold"/>
              </a:rPr>
              <a:t>Perform Advanced Data Science Analysis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3503507">
            <a:off x="8317089" y="1468589"/>
            <a:ext cx="12583451" cy="6795882"/>
            <a:chOff x="0" y="0"/>
            <a:chExt cx="3314160" cy="1789862"/>
          </a:xfrm>
        </p:grpSpPr>
        <p:sp>
          <p:nvSpPr>
            <p:cNvPr name="Freeform 3" id="3"/>
            <p:cNvSpPr/>
            <p:nvPr/>
          </p:nvSpPr>
          <p:spPr>
            <a:xfrm flipH="false" flipV="false" rot="0">
              <a:off x="0" y="0"/>
              <a:ext cx="3314160" cy="1789862"/>
            </a:xfrm>
            <a:custGeom>
              <a:avLst/>
              <a:gdLst/>
              <a:ahLst/>
              <a:cxnLst/>
              <a:rect r="r" b="b" t="t" l="l"/>
              <a:pathLst>
                <a:path h="1789862" w="3314160">
                  <a:moveTo>
                    <a:pt x="31378" y="0"/>
                  </a:moveTo>
                  <a:lnTo>
                    <a:pt x="3282783" y="0"/>
                  </a:lnTo>
                  <a:cubicBezTo>
                    <a:pt x="3300112" y="0"/>
                    <a:pt x="3314160" y="14048"/>
                    <a:pt x="3314160" y="31378"/>
                  </a:cubicBezTo>
                  <a:lnTo>
                    <a:pt x="3314160" y="1758484"/>
                  </a:lnTo>
                  <a:cubicBezTo>
                    <a:pt x="3314160" y="1775814"/>
                    <a:pt x="3300112" y="1789862"/>
                    <a:pt x="3282783" y="1789862"/>
                  </a:cubicBezTo>
                  <a:lnTo>
                    <a:pt x="31378" y="1789862"/>
                  </a:lnTo>
                  <a:cubicBezTo>
                    <a:pt x="14048" y="1789862"/>
                    <a:pt x="0" y="1775814"/>
                    <a:pt x="0" y="1758484"/>
                  </a:cubicBezTo>
                  <a:lnTo>
                    <a:pt x="0" y="31378"/>
                  </a:lnTo>
                  <a:cubicBezTo>
                    <a:pt x="0" y="14048"/>
                    <a:pt x="14048" y="0"/>
                    <a:pt x="31378" y="0"/>
                  </a:cubicBezTo>
                  <a:close/>
                </a:path>
              </a:pathLst>
            </a:custGeom>
            <a:solidFill>
              <a:srgbClr val="FFE9E9"/>
            </a:solidFill>
          </p:spPr>
        </p:sp>
        <p:sp>
          <p:nvSpPr>
            <p:cNvPr name="TextBox 4" id="4"/>
            <p:cNvSpPr txBox="true"/>
            <p:nvPr/>
          </p:nvSpPr>
          <p:spPr>
            <a:xfrm>
              <a:off x="0" y="-333375"/>
              <a:ext cx="3314160" cy="2123237"/>
            </a:xfrm>
            <a:prstGeom prst="rect">
              <a:avLst/>
            </a:prstGeom>
          </p:spPr>
          <p:txBody>
            <a:bodyPr anchor="ctr" rtlCol="false" tIns="50800" lIns="50800" bIns="50800" rIns="50800"/>
            <a:lstStyle/>
            <a:p>
              <a:pPr algn="ctr">
                <a:lnSpc>
                  <a:spcPts val="6249"/>
                </a:lnSpc>
              </a:pPr>
            </a:p>
          </p:txBody>
        </p:sp>
      </p:grpSp>
      <p:sp>
        <p:nvSpPr>
          <p:cNvPr name="AutoShape 5" id="5"/>
          <p:cNvSpPr/>
          <p:nvPr/>
        </p:nvSpPr>
        <p:spPr>
          <a:xfrm>
            <a:off x="-1863374" y="1871020"/>
            <a:ext cx="8918179" cy="19050"/>
          </a:xfrm>
          <a:prstGeom prst="line">
            <a:avLst/>
          </a:prstGeom>
          <a:ln cap="flat" w="28575">
            <a:solidFill>
              <a:srgbClr val="000000"/>
            </a:solidFill>
            <a:prstDash val="solid"/>
            <a:headEnd type="none" len="sm" w="sm"/>
            <a:tailEnd type="none" len="sm" w="sm"/>
          </a:ln>
        </p:spPr>
      </p:sp>
      <p:sp>
        <p:nvSpPr>
          <p:cNvPr name="Freeform 6" id="6"/>
          <p:cNvSpPr/>
          <p:nvPr/>
        </p:nvSpPr>
        <p:spPr>
          <a:xfrm flipH="false" flipV="false" rot="0">
            <a:off x="1381774" y="2846755"/>
            <a:ext cx="10517970" cy="7047040"/>
          </a:xfrm>
          <a:custGeom>
            <a:avLst/>
            <a:gdLst/>
            <a:ahLst/>
            <a:cxnLst/>
            <a:rect r="r" b="b" t="t" l="l"/>
            <a:pathLst>
              <a:path h="7047040" w="10517970">
                <a:moveTo>
                  <a:pt x="0" y="0"/>
                </a:moveTo>
                <a:lnTo>
                  <a:pt x="10517970" y="0"/>
                </a:lnTo>
                <a:lnTo>
                  <a:pt x="10517970" y="7047040"/>
                </a:lnTo>
                <a:lnTo>
                  <a:pt x="0" y="7047040"/>
                </a:lnTo>
                <a:lnTo>
                  <a:pt x="0" y="0"/>
                </a:lnTo>
                <a:close/>
              </a:path>
            </a:pathLst>
          </a:custGeom>
          <a:blipFill>
            <a:blip r:embed="rId2"/>
            <a:stretch>
              <a:fillRect l="0" t="0" r="0" b="0"/>
            </a:stretch>
          </a:blipFill>
        </p:spPr>
      </p:sp>
      <p:sp>
        <p:nvSpPr>
          <p:cNvPr name="Freeform 7" id="7"/>
          <p:cNvSpPr/>
          <p:nvPr/>
        </p:nvSpPr>
        <p:spPr>
          <a:xfrm flipH="false" flipV="false" rot="0">
            <a:off x="12202503" y="2770402"/>
            <a:ext cx="5698714" cy="7123393"/>
          </a:xfrm>
          <a:custGeom>
            <a:avLst/>
            <a:gdLst/>
            <a:ahLst/>
            <a:cxnLst/>
            <a:rect r="r" b="b" t="t" l="l"/>
            <a:pathLst>
              <a:path h="7123393" w="5698714">
                <a:moveTo>
                  <a:pt x="0" y="0"/>
                </a:moveTo>
                <a:lnTo>
                  <a:pt x="5698715" y="0"/>
                </a:lnTo>
                <a:lnTo>
                  <a:pt x="5698715" y="7123393"/>
                </a:lnTo>
                <a:lnTo>
                  <a:pt x="0" y="7123393"/>
                </a:lnTo>
                <a:lnTo>
                  <a:pt x="0" y="0"/>
                </a:lnTo>
                <a:close/>
              </a:path>
            </a:pathLst>
          </a:custGeom>
          <a:blipFill>
            <a:blip r:embed="rId3"/>
            <a:stretch>
              <a:fillRect l="0" t="0" r="0" b="0"/>
            </a:stretch>
          </a:blipFill>
        </p:spPr>
      </p:sp>
      <p:sp>
        <p:nvSpPr>
          <p:cNvPr name="TextBox 8" id="8"/>
          <p:cNvSpPr txBox="true"/>
          <p:nvPr/>
        </p:nvSpPr>
        <p:spPr>
          <a:xfrm rot="0">
            <a:off x="733448" y="774370"/>
            <a:ext cx="11590063" cy="546760"/>
          </a:xfrm>
          <a:prstGeom prst="rect">
            <a:avLst/>
          </a:prstGeom>
        </p:spPr>
        <p:txBody>
          <a:bodyPr anchor="t" rtlCol="false" tIns="0" lIns="0" bIns="0" rIns="0">
            <a:spAutoFit/>
          </a:bodyPr>
          <a:lstStyle/>
          <a:p>
            <a:pPr algn="l">
              <a:lnSpc>
                <a:spcPts val="3899"/>
              </a:lnSpc>
            </a:pPr>
            <a:r>
              <a:rPr lang="en-US" sz="3899" b="true">
                <a:solidFill>
                  <a:srgbClr val="8D0000"/>
                </a:solidFill>
                <a:latin typeface="Poppins Bold"/>
                <a:ea typeface="Poppins Bold"/>
                <a:cs typeface="Poppins Bold"/>
                <a:sym typeface="Poppins Bold"/>
              </a:rPr>
              <a:t>ABOUT THE DATASET – CUSTOMER BEHAVIORS</a:t>
            </a:r>
          </a:p>
        </p:txBody>
      </p:sp>
      <p:sp>
        <p:nvSpPr>
          <p:cNvPr name="TextBox 9" id="9"/>
          <p:cNvSpPr txBox="true"/>
          <p:nvPr/>
        </p:nvSpPr>
        <p:spPr>
          <a:xfrm rot="0">
            <a:off x="733448" y="2119655"/>
            <a:ext cx="2913052" cy="441350"/>
          </a:xfrm>
          <a:prstGeom prst="rect">
            <a:avLst/>
          </a:prstGeom>
        </p:spPr>
        <p:txBody>
          <a:bodyPr anchor="t" rtlCol="false" tIns="0" lIns="0" bIns="0" rIns="0">
            <a:spAutoFit/>
          </a:bodyPr>
          <a:lstStyle/>
          <a:p>
            <a:pPr algn="ctr">
              <a:lnSpc>
                <a:spcPts val="3499"/>
              </a:lnSpc>
              <a:spcBef>
                <a:spcPct val="0"/>
              </a:spcBef>
            </a:pPr>
            <a:r>
              <a:rPr lang="en-US" b="true" sz="2499">
                <a:solidFill>
                  <a:srgbClr val="8D0000"/>
                </a:solidFill>
                <a:latin typeface="Poppins Bold"/>
                <a:ea typeface="Poppins Bold"/>
                <a:cs typeface="Poppins Bold"/>
                <a:sym typeface="Poppins Bold"/>
              </a:rPr>
              <a:t>3,333 rows</a:t>
            </a:r>
          </a:p>
        </p:txBody>
      </p:sp>
      <p:sp>
        <p:nvSpPr>
          <p:cNvPr name="TextBox 10" id="10"/>
          <p:cNvSpPr txBox="true"/>
          <p:nvPr/>
        </p:nvSpPr>
        <p:spPr>
          <a:xfrm rot="0">
            <a:off x="8201608" y="2119655"/>
            <a:ext cx="1884784" cy="441350"/>
          </a:xfrm>
          <a:prstGeom prst="rect">
            <a:avLst/>
          </a:prstGeom>
        </p:spPr>
        <p:txBody>
          <a:bodyPr anchor="t" rtlCol="false" tIns="0" lIns="0" bIns="0" rIns="0">
            <a:spAutoFit/>
          </a:bodyPr>
          <a:lstStyle/>
          <a:p>
            <a:pPr algn="ctr">
              <a:lnSpc>
                <a:spcPts val="3499"/>
              </a:lnSpc>
              <a:spcBef>
                <a:spcPct val="0"/>
              </a:spcBef>
            </a:pPr>
            <a:r>
              <a:rPr lang="en-US" b="true" sz="2499">
                <a:solidFill>
                  <a:srgbClr val="8D0000"/>
                </a:solidFill>
                <a:latin typeface="Poppins Bold"/>
                <a:ea typeface="Poppins Bold"/>
                <a:cs typeface="Poppins Bold"/>
                <a:sym typeface="Poppins Bold"/>
              </a:rPr>
              <a:t>20</a:t>
            </a:r>
            <a:r>
              <a:rPr lang="en-US" b="true" sz="2499">
                <a:solidFill>
                  <a:srgbClr val="8D0000"/>
                </a:solidFill>
                <a:latin typeface="Poppins Bold"/>
                <a:ea typeface="Poppins Bold"/>
                <a:cs typeface="Poppins Bold"/>
                <a:sym typeface="Poppins Bold"/>
              </a:rPr>
              <a:t> columns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3503507">
            <a:off x="5380001" y="9454402"/>
            <a:ext cx="5068421" cy="1710448"/>
            <a:chOff x="0" y="0"/>
            <a:chExt cx="1334893" cy="450488"/>
          </a:xfrm>
        </p:grpSpPr>
        <p:sp>
          <p:nvSpPr>
            <p:cNvPr name="Freeform 3" id="3"/>
            <p:cNvSpPr/>
            <p:nvPr/>
          </p:nvSpPr>
          <p:spPr>
            <a:xfrm flipH="false" flipV="false" rot="0">
              <a:off x="0" y="0"/>
              <a:ext cx="1334893" cy="450488"/>
            </a:xfrm>
            <a:custGeom>
              <a:avLst/>
              <a:gdLst/>
              <a:ahLst/>
              <a:cxnLst/>
              <a:rect r="r" b="b" t="t" l="l"/>
              <a:pathLst>
                <a:path h="450488" w="1334893">
                  <a:moveTo>
                    <a:pt x="77902" y="0"/>
                  </a:moveTo>
                  <a:lnTo>
                    <a:pt x="1256991" y="0"/>
                  </a:lnTo>
                  <a:cubicBezTo>
                    <a:pt x="1277652" y="0"/>
                    <a:pt x="1297467" y="8207"/>
                    <a:pt x="1312076" y="22817"/>
                  </a:cubicBezTo>
                  <a:cubicBezTo>
                    <a:pt x="1326685" y="37426"/>
                    <a:pt x="1334893" y="57241"/>
                    <a:pt x="1334893" y="77902"/>
                  </a:cubicBezTo>
                  <a:lnTo>
                    <a:pt x="1334893" y="372587"/>
                  </a:lnTo>
                  <a:cubicBezTo>
                    <a:pt x="1334893" y="393248"/>
                    <a:pt x="1326685" y="413062"/>
                    <a:pt x="1312076" y="427672"/>
                  </a:cubicBezTo>
                  <a:cubicBezTo>
                    <a:pt x="1297467" y="442281"/>
                    <a:pt x="1277652" y="450488"/>
                    <a:pt x="1256991" y="450488"/>
                  </a:cubicBezTo>
                  <a:lnTo>
                    <a:pt x="77902" y="450488"/>
                  </a:lnTo>
                  <a:cubicBezTo>
                    <a:pt x="57241" y="450488"/>
                    <a:pt x="37426" y="442281"/>
                    <a:pt x="22817" y="427672"/>
                  </a:cubicBezTo>
                  <a:cubicBezTo>
                    <a:pt x="8207" y="413062"/>
                    <a:pt x="0" y="393248"/>
                    <a:pt x="0" y="372587"/>
                  </a:cubicBezTo>
                  <a:lnTo>
                    <a:pt x="0" y="77902"/>
                  </a:lnTo>
                  <a:cubicBezTo>
                    <a:pt x="0" y="57241"/>
                    <a:pt x="8207" y="37426"/>
                    <a:pt x="22817" y="22817"/>
                  </a:cubicBezTo>
                  <a:cubicBezTo>
                    <a:pt x="37426" y="8207"/>
                    <a:pt x="57241" y="0"/>
                    <a:pt x="77902" y="0"/>
                  </a:cubicBezTo>
                  <a:close/>
                </a:path>
              </a:pathLst>
            </a:custGeom>
            <a:solidFill>
              <a:srgbClr val="FFE9E9"/>
            </a:solidFill>
          </p:spPr>
        </p:sp>
        <p:sp>
          <p:nvSpPr>
            <p:cNvPr name="TextBox 4" id="4"/>
            <p:cNvSpPr txBox="true"/>
            <p:nvPr/>
          </p:nvSpPr>
          <p:spPr>
            <a:xfrm>
              <a:off x="0" y="-333375"/>
              <a:ext cx="1334893" cy="783863"/>
            </a:xfrm>
            <a:prstGeom prst="rect">
              <a:avLst/>
            </a:prstGeom>
          </p:spPr>
          <p:txBody>
            <a:bodyPr anchor="ctr" rtlCol="false" tIns="50800" lIns="50800" bIns="50800" rIns="50800"/>
            <a:lstStyle/>
            <a:p>
              <a:pPr algn="ctr">
                <a:lnSpc>
                  <a:spcPts val="6249"/>
                </a:lnSpc>
              </a:pPr>
            </a:p>
          </p:txBody>
        </p:sp>
      </p:grpSp>
      <p:grpSp>
        <p:nvGrpSpPr>
          <p:cNvPr name="Group 5" id="5"/>
          <p:cNvGrpSpPr/>
          <p:nvPr/>
        </p:nvGrpSpPr>
        <p:grpSpPr>
          <a:xfrm rot="-3503507">
            <a:off x="243645" y="-2185087"/>
            <a:ext cx="5068421" cy="1710448"/>
            <a:chOff x="0" y="0"/>
            <a:chExt cx="1334893" cy="450488"/>
          </a:xfrm>
        </p:grpSpPr>
        <p:sp>
          <p:nvSpPr>
            <p:cNvPr name="Freeform 6" id="6"/>
            <p:cNvSpPr/>
            <p:nvPr/>
          </p:nvSpPr>
          <p:spPr>
            <a:xfrm flipH="false" flipV="false" rot="0">
              <a:off x="0" y="0"/>
              <a:ext cx="1334893" cy="450488"/>
            </a:xfrm>
            <a:custGeom>
              <a:avLst/>
              <a:gdLst/>
              <a:ahLst/>
              <a:cxnLst/>
              <a:rect r="r" b="b" t="t" l="l"/>
              <a:pathLst>
                <a:path h="450488" w="1334893">
                  <a:moveTo>
                    <a:pt x="77902" y="0"/>
                  </a:moveTo>
                  <a:lnTo>
                    <a:pt x="1256991" y="0"/>
                  </a:lnTo>
                  <a:cubicBezTo>
                    <a:pt x="1277652" y="0"/>
                    <a:pt x="1297467" y="8207"/>
                    <a:pt x="1312076" y="22817"/>
                  </a:cubicBezTo>
                  <a:cubicBezTo>
                    <a:pt x="1326685" y="37426"/>
                    <a:pt x="1334893" y="57241"/>
                    <a:pt x="1334893" y="77902"/>
                  </a:cubicBezTo>
                  <a:lnTo>
                    <a:pt x="1334893" y="372587"/>
                  </a:lnTo>
                  <a:cubicBezTo>
                    <a:pt x="1334893" y="393248"/>
                    <a:pt x="1326685" y="413062"/>
                    <a:pt x="1312076" y="427672"/>
                  </a:cubicBezTo>
                  <a:cubicBezTo>
                    <a:pt x="1297467" y="442281"/>
                    <a:pt x="1277652" y="450488"/>
                    <a:pt x="1256991" y="450488"/>
                  </a:cubicBezTo>
                  <a:lnTo>
                    <a:pt x="77902" y="450488"/>
                  </a:lnTo>
                  <a:cubicBezTo>
                    <a:pt x="57241" y="450488"/>
                    <a:pt x="37426" y="442281"/>
                    <a:pt x="22817" y="427672"/>
                  </a:cubicBezTo>
                  <a:cubicBezTo>
                    <a:pt x="8207" y="413062"/>
                    <a:pt x="0" y="393248"/>
                    <a:pt x="0" y="372587"/>
                  </a:cubicBezTo>
                  <a:lnTo>
                    <a:pt x="0" y="77902"/>
                  </a:lnTo>
                  <a:cubicBezTo>
                    <a:pt x="0" y="57241"/>
                    <a:pt x="8207" y="37426"/>
                    <a:pt x="22817" y="22817"/>
                  </a:cubicBezTo>
                  <a:cubicBezTo>
                    <a:pt x="37426" y="8207"/>
                    <a:pt x="57241" y="0"/>
                    <a:pt x="77902" y="0"/>
                  </a:cubicBezTo>
                  <a:close/>
                </a:path>
              </a:pathLst>
            </a:custGeom>
            <a:solidFill>
              <a:srgbClr val="FFE9E9"/>
            </a:solidFill>
          </p:spPr>
        </p:sp>
        <p:sp>
          <p:nvSpPr>
            <p:cNvPr name="TextBox 7" id="7"/>
            <p:cNvSpPr txBox="true"/>
            <p:nvPr/>
          </p:nvSpPr>
          <p:spPr>
            <a:xfrm>
              <a:off x="0" y="-333375"/>
              <a:ext cx="1334893" cy="783863"/>
            </a:xfrm>
            <a:prstGeom prst="rect">
              <a:avLst/>
            </a:prstGeom>
          </p:spPr>
          <p:txBody>
            <a:bodyPr anchor="ctr" rtlCol="false" tIns="50800" lIns="50800" bIns="50800" rIns="50800"/>
            <a:lstStyle/>
            <a:p>
              <a:pPr algn="ctr">
                <a:lnSpc>
                  <a:spcPts val="6249"/>
                </a:lnSpc>
              </a:pPr>
            </a:p>
          </p:txBody>
        </p:sp>
      </p:grpSp>
      <p:sp>
        <p:nvSpPr>
          <p:cNvPr name="AutoShape 8" id="8"/>
          <p:cNvSpPr/>
          <p:nvPr/>
        </p:nvSpPr>
        <p:spPr>
          <a:xfrm>
            <a:off x="-466663" y="1908418"/>
            <a:ext cx="10602143" cy="0"/>
          </a:xfrm>
          <a:prstGeom prst="line">
            <a:avLst/>
          </a:prstGeom>
          <a:ln cap="flat" w="28575">
            <a:solidFill>
              <a:srgbClr val="000000"/>
            </a:solidFill>
            <a:prstDash val="solid"/>
            <a:headEnd type="none" len="sm" w="sm"/>
            <a:tailEnd type="none" len="sm" w="sm"/>
          </a:ln>
        </p:spPr>
      </p:sp>
      <p:sp>
        <p:nvSpPr>
          <p:cNvPr name="Freeform 9" id="9"/>
          <p:cNvSpPr/>
          <p:nvPr/>
        </p:nvSpPr>
        <p:spPr>
          <a:xfrm flipH="false" flipV="false" rot="0">
            <a:off x="7623504" y="2056055"/>
            <a:ext cx="10052740" cy="6659940"/>
          </a:xfrm>
          <a:custGeom>
            <a:avLst/>
            <a:gdLst/>
            <a:ahLst/>
            <a:cxnLst/>
            <a:rect r="r" b="b" t="t" l="l"/>
            <a:pathLst>
              <a:path h="6659940" w="10052740">
                <a:moveTo>
                  <a:pt x="0" y="0"/>
                </a:moveTo>
                <a:lnTo>
                  <a:pt x="10052739" y="0"/>
                </a:lnTo>
                <a:lnTo>
                  <a:pt x="10052739" y="6659940"/>
                </a:lnTo>
                <a:lnTo>
                  <a:pt x="0" y="6659940"/>
                </a:lnTo>
                <a:lnTo>
                  <a:pt x="0" y="0"/>
                </a:lnTo>
                <a:close/>
              </a:path>
            </a:pathLst>
          </a:custGeom>
          <a:blipFill>
            <a:blip r:embed="rId2"/>
            <a:stretch>
              <a:fillRect l="0" t="0" r="0" b="0"/>
            </a:stretch>
          </a:blipFill>
        </p:spPr>
      </p:sp>
      <p:sp>
        <p:nvSpPr>
          <p:cNvPr name="TextBox 10" id="10"/>
          <p:cNvSpPr txBox="true"/>
          <p:nvPr/>
        </p:nvSpPr>
        <p:spPr>
          <a:xfrm rot="0">
            <a:off x="379191" y="1941755"/>
            <a:ext cx="6709928" cy="492138"/>
          </a:xfrm>
          <a:prstGeom prst="rect">
            <a:avLst/>
          </a:prstGeom>
        </p:spPr>
        <p:txBody>
          <a:bodyPr anchor="t" rtlCol="false" tIns="0" lIns="0" bIns="0" rIns="0">
            <a:spAutoFit/>
          </a:bodyPr>
          <a:lstStyle/>
          <a:p>
            <a:pPr algn="l">
              <a:lnSpc>
                <a:spcPts val="3999"/>
              </a:lnSpc>
            </a:pPr>
            <a:r>
              <a:rPr lang="en-US" b="true" sz="2499">
                <a:solidFill>
                  <a:srgbClr val="FF5757"/>
                </a:solidFill>
                <a:latin typeface="Poppins Bold"/>
                <a:ea typeface="Poppins Bold"/>
                <a:cs typeface="Poppins Bold"/>
                <a:sym typeface="Poppins Bold"/>
              </a:rPr>
              <a:t>Visualization Outliers – Box Plots</a:t>
            </a:r>
          </a:p>
        </p:txBody>
      </p:sp>
      <p:sp>
        <p:nvSpPr>
          <p:cNvPr name="TextBox 11" id="11"/>
          <p:cNvSpPr txBox="true"/>
          <p:nvPr/>
        </p:nvSpPr>
        <p:spPr>
          <a:xfrm rot="0">
            <a:off x="721303" y="619120"/>
            <a:ext cx="12458258" cy="866785"/>
          </a:xfrm>
          <a:prstGeom prst="rect">
            <a:avLst/>
          </a:prstGeom>
        </p:spPr>
        <p:txBody>
          <a:bodyPr anchor="t" rtlCol="false" tIns="0" lIns="0" bIns="0" rIns="0">
            <a:spAutoFit/>
          </a:bodyPr>
          <a:lstStyle/>
          <a:p>
            <a:pPr algn="l">
              <a:lnSpc>
                <a:spcPts val="6000"/>
              </a:lnSpc>
            </a:pPr>
            <a:r>
              <a:rPr lang="en-US" sz="6000" b="true">
                <a:solidFill>
                  <a:srgbClr val="8D0000"/>
                </a:solidFill>
                <a:latin typeface="Poppins Bold"/>
                <a:ea typeface="Poppins Bold"/>
                <a:cs typeface="Poppins Bold"/>
                <a:sym typeface="Poppins Bold"/>
              </a:rPr>
              <a:t>CHECK FOR OUTLIERS</a:t>
            </a:r>
          </a:p>
        </p:txBody>
      </p:sp>
      <p:sp>
        <p:nvSpPr>
          <p:cNvPr name="TextBox 12" id="12"/>
          <p:cNvSpPr txBox="true"/>
          <p:nvPr/>
        </p:nvSpPr>
        <p:spPr>
          <a:xfrm rot="0">
            <a:off x="837418" y="2948243"/>
            <a:ext cx="6251702" cy="5577282"/>
          </a:xfrm>
          <a:prstGeom prst="rect">
            <a:avLst/>
          </a:prstGeom>
        </p:spPr>
        <p:txBody>
          <a:bodyPr anchor="t" rtlCol="false" tIns="0" lIns="0" bIns="0" rIns="0">
            <a:spAutoFit/>
          </a:bodyPr>
          <a:lstStyle/>
          <a:p>
            <a:pPr algn="l">
              <a:lnSpc>
                <a:spcPts val="2791"/>
              </a:lnSpc>
              <a:spcBef>
                <a:spcPct val="0"/>
              </a:spcBef>
            </a:pPr>
            <a:r>
              <a:rPr lang="en-US" sz="1993">
                <a:solidFill>
                  <a:srgbClr val="000000"/>
                </a:solidFill>
                <a:latin typeface="Poppins"/>
                <a:ea typeface="Poppins"/>
                <a:cs typeface="Poppins"/>
                <a:sym typeface="Poppins"/>
              </a:rPr>
              <a:t>The analysis shows that most customer behaviors fall within a normal range, but several variables exhibit notable outliers. Session durat</a:t>
            </a:r>
            <a:r>
              <a:rPr lang="en-US" sz="1993">
                <a:solidFill>
                  <a:srgbClr val="000000"/>
                </a:solidFill>
                <a:latin typeface="Poppins"/>
                <a:ea typeface="Poppins"/>
                <a:cs typeface="Poppins"/>
                <a:sym typeface="Poppins"/>
              </a:rPr>
              <a:t>ion, average order value, and desktop sessions have typical mid-range activity with a few extremely high or low values. Most customers make around five app transactions, have accounts about 100 days old, and rarely contact customer service. Engagement levels, such as adding items to wishlists or clicking promotions, are generally low, though some users are highly active. Overall, the data suggests that while the majority of customers behave consistently, a small group shows significantly different interaction patterns.</a:t>
            </a:r>
          </a:p>
          <a:p>
            <a:pPr algn="l">
              <a:lnSpc>
                <a:spcPts val="2791"/>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3503507">
            <a:off x="5380001" y="9454402"/>
            <a:ext cx="5068421" cy="1710448"/>
            <a:chOff x="0" y="0"/>
            <a:chExt cx="1334893" cy="450488"/>
          </a:xfrm>
        </p:grpSpPr>
        <p:sp>
          <p:nvSpPr>
            <p:cNvPr name="Freeform 3" id="3"/>
            <p:cNvSpPr/>
            <p:nvPr/>
          </p:nvSpPr>
          <p:spPr>
            <a:xfrm flipH="false" flipV="false" rot="0">
              <a:off x="0" y="0"/>
              <a:ext cx="1334893" cy="450488"/>
            </a:xfrm>
            <a:custGeom>
              <a:avLst/>
              <a:gdLst/>
              <a:ahLst/>
              <a:cxnLst/>
              <a:rect r="r" b="b" t="t" l="l"/>
              <a:pathLst>
                <a:path h="450488" w="1334893">
                  <a:moveTo>
                    <a:pt x="77902" y="0"/>
                  </a:moveTo>
                  <a:lnTo>
                    <a:pt x="1256991" y="0"/>
                  </a:lnTo>
                  <a:cubicBezTo>
                    <a:pt x="1277652" y="0"/>
                    <a:pt x="1297467" y="8207"/>
                    <a:pt x="1312076" y="22817"/>
                  </a:cubicBezTo>
                  <a:cubicBezTo>
                    <a:pt x="1326685" y="37426"/>
                    <a:pt x="1334893" y="57241"/>
                    <a:pt x="1334893" y="77902"/>
                  </a:cubicBezTo>
                  <a:lnTo>
                    <a:pt x="1334893" y="372587"/>
                  </a:lnTo>
                  <a:cubicBezTo>
                    <a:pt x="1334893" y="393248"/>
                    <a:pt x="1326685" y="413062"/>
                    <a:pt x="1312076" y="427672"/>
                  </a:cubicBezTo>
                  <a:cubicBezTo>
                    <a:pt x="1297467" y="442281"/>
                    <a:pt x="1277652" y="450488"/>
                    <a:pt x="1256991" y="450488"/>
                  </a:cubicBezTo>
                  <a:lnTo>
                    <a:pt x="77902" y="450488"/>
                  </a:lnTo>
                  <a:cubicBezTo>
                    <a:pt x="57241" y="450488"/>
                    <a:pt x="37426" y="442281"/>
                    <a:pt x="22817" y="427672"/>
                  </a:cubicBezTo>
                  <a:cubicBezTo>
                    <a:pt x="8207" y="413062"/>
                    <a:pt x="0" y="393248"/>
                    <a:pt x="0" y="372587"/>
                  </a:cubicBezTo>
                  <a:lnTo>
                    <a:pt x="0" y="77902"/>
                  </a:lnTo>
                  <a:cubicBezTo>
                    <a:pt x="0" y="57241"/>
                    <a:pt x="8207" y="37426"/>
                    <a:pt x="22817" y="22817"/>
                  </a:cubicBezTo>
                  <a:cubicBezTo>
                    <a:pt x="37426" y="8207"/>
                    <a:pt x="57241" y="0"/>
                    <a:pt x="77902" y="0"/>
                  </a:cubicBezTo>
                  <a:close/>
                </a:path>
              </a:pathLst>
            </a:custGeom>
            <a:solidFill>
              <a:srgbClr val="FFE9E9"/>
            </a:solidFill>
          </p:spPr>
        </p:sp>
        <p:sp>
          <p:nvSpPr>
            <p:cNvPr name="TextBox 4" id="4"/>
            <p:cNvSpPr txBox="true"/>
            <p:nvPr/>
          </p:nvSpPr>
          <p:spPr>
            <a:xfrm>
              <a:off x="0" y="-333375"/>
              <a:ext cx="1334893" cy="783863"/>
            </a:xfrm>
            <a:prstGeom prst="rect">
              <a:avLst/>
            </a:prstGeom>
          </p:spPr>
          <p:txBody>
            <a:bodyPr anchor="ctr" rtlCol="false" tIns="50800" lIns="50800" bIns="50800" rIns="50800"/>
            <a:lstStyle/>
            <a:p>
              <a:pPr algn="ctr">
                <a:lnSpc>
                  <a:spcPts val="6249"/>
                </a:lnSpc>
              </a:pPr>
            </a:p>
          </p:txBody>
        </p:sp>
      </p:grpSp>
      <p:grpSp>
        <p:nvGrpSpPr>
          <p:cNvPr name="Group 5" id="5"/>
          <p:cNvGrpSpPr/>
          <p:nvPr/>
        </p:nvGrpSpPr>
        <p:grpSpPr>
          <a:xfrm rot="-3503507">
            <a:off x="551042" y="-1554003"/>
            <a:ext cx="5068421" cy="1710448"/>
            <a:chOff x="0" y="0"/>
            <a:chExt cx="1334893" cy="450488"/>
          </a:xfrm>
        </p:grpSpPr>
        <p:sp>
          <p:nvSpPr>
            <p:cNvPr name="Freeform 6" id="6"/>
            <p:cNvSpPr/>
            <p:nvPr/>
          </p:nvSpPr>
          <p:spPr>
            <a:xfrm flipH="false" flipV="false" rot="0">
              <a:off x="0" y="0"/>
              <a:ext cx="1334893" cy="450488"/>
            </a:xfrm>
            <a:custGeom>
              <a:avLst/>
              <a:gdLst/>
              <a:ahLst/>
              <a:cxnLst/>
              <a:rect r="r" b="b" t="t" l="l"/>
              <a:pathLst>
                <a:path h="450488" w="1334893">
                  <a:moveTo>
                    <a:pt x="77902" y="0"/>
                  </a:moveTo>
                  <a:lnTo>
                    <a:pt x="1256991" y="0"/>
                  </a:lnTo>
                  <a:cubicBezTo>
                    <a:pt x="1277652" y="0"/>
                    <a:pt x="1297467" y="8207"/>
                    <a:pt x="1312076" y="22817"/>
                  </a:cubicBezTo>
                  <a:cubicBezTo>
                    <a:pt x="1326685" y="37426"/>
                    <a:pt x="1334893" y="57241"/>
                    <a:pt x="1334893" y="77902"/>
                  </a:cubicBezTo>
                  <a:lnTo>
                    <a:pt x="1334893" y="372587"/>
                  </a:lnTo>
                  <a:cubicBezTo>
                    <a:pt x="1334893" y="393248"/>
                    <a:pt x="1326685" y="413062"/>
                    <a:pt x="1312076" y="427672"/>
                  </a:cubicBezTo>
                  <a:cubicBezTo>
                    <a:pt x="1297467" y="442281"/>
                    <a:pt x="1277652" y="450488"/>
                    <a:pt x="1256991" y="450488"/>
                  </a:cubicBezTo>
                  <a:lnTo>
                    <a:pt x="77902" y="450488"/>
                  </a:lnTo>
                  <a:cubicBezTo>
                    <a:pt x="57241" y="450488"/>
                    <a:pt x="37426" y="442281"/>
                    <a:pt x="22817" y="427672"/>
                  </a:cubicBezTo>
                  <a:cubicBezTo>
                    <a:pt x="8207" y="413062"/>
                    <a:pt x="0" y="393248"/>
                    <a:pt x="0" y="372587"/>
                  </a:cubicBezTo>
                  <a:lnTo>
                    <a:pt x="0" y="77902"/>
                  </a:lnTo>
                  <a:cubicBezTo>
                    <a:pt x="0" y="57241"/>
                    <a:pt x="8207" y="37426"/>
                    <a:pt x="22817" y="22817"/>
                  </a:cubicBezTo>
                  <a:cubicBezTo>
                    <a:pt x="37426" y="8207"/>
                    <a:pt x="57241" y="0"/>
                    <a:pt x="77902" y="0"/>
                  </a:cubicBezTo>
                  <a:close/>
                </a:path>
              </a:pathLst>
            </a:custGeom>
            <a:solidFill>
              <a:srgbClr val="FFE9E9"/>
            </a:solidFill>
          </p:spPr>
        </p:sp>
        <p:sp>
          <p:nvSpPr>
            <p:cNvPr name="TextBox 7" id="7"/>
            <p:cNvSpPr txBox="true"/>
            <p:nvPr/>
          </p:nvSpPr>
          <p:spPr>
            <a:xfrm>
              <a:off x="0" y="-333375"/>
              <a:ext cx="1334893" cy="783863"/>
            </a:xfrm>
            <a:prstGeom prst="rect">
              <a:avLst/>
            </a:prstGeom>
          </p:spPr>
          <p:txBody>
            <a:bodyPr anchor="ctr" rtlCol="false" tIns="50800" lIns="50800" bIns="50800" rIns="50800"/>
            <a:lstStyle/>
            <a:p>
              <a:pPr algn="ctr">
                <a:lnSpc>
                  <a:spcPts val="6249"/>
                </a:lnSpc>
              </a:pPr>
            </a:p>
          </p:txBody>
        </p:sp>
      </p:grpSp>
      <p:sp>
        <p:nvSpPr>
          <p:cNvPr name="AutoShape 8" id="8"/>
          <p:cNvSpPr/>
          <p:nvPr/>
        </p:nvSpPr>
        <p:spPr>
          <a:xfrm>
            <a:off x="-917407" y="1431257"/>
            <a:ext cx="10602143" cy="0"/>
          </a:xfrm>
          <a:prstGeom prst="line">
            <a:avLst/>
          </a:prstGeom>
          <a:ln cap="flat" w="28575">
            <a:solidFill>
              <a:srgbClr val="000000"/>
            </a:solidFill>
            <a:prstDash val="solid"/>
            <a:headEnd type="none" len="sm" w="sm"/>
            <a:tailEnd type="none" len="sm" w="sm"/>
          </a:ln>
        </p:spPr>
      </p:sp>
      <p:sp>
        <p:nvSpPr>
          <p:cNvPr name="Freeform 9" id="9"/>
          <p:cNvSpPr/>
          <p:nvPr/>
        </p:nvSpPr>
        <p:spPr>
          <a:xfrm flipH="false" flipV="false" rot="0">
            <a:off x="9144000" y="1202406"/>
            <a:ext cx="8282738" cy="8210264"/>
          </a:xfrm>
          <a:custGeom>
            <a:avLst/>
            <a:gdLst/>
            <a:ahLst/>
            <a:cxnLst/>
            <a:rect r="r" b="b" t="t" l="l"/>
            <a:pathLst>
              <a:path h="8210264" w="8282738">
                <a:moveTo>
                  <a:pt x="0" y="0"/>
                </a:moveTo>
                <a:lnTo>
                  <a:pt x="8282738" y="0"/>
                </a:lnTo>
                <a:lnTo>
                  <a:pt x="8282738" y="8210264"/>
                </a:lnTo>
                <a:lnTo>
                  <a:pt x="0" y="8210264"/>
                </a:lnTo>
                <a:lnTo>
                  <a:pt x="0" y="0"/>
                </a:lnTo>
                <a:close/>
              </a:path>
            </a:pathLst>
          </a:custGeom>
          <a:blipFill>
            <a:blip r:embed="rId2"/>
            <a:stretch>
              <a:fillRect l="0" t="0" r="0" b="0"/>
            </a:stretch>
          </a:blipFill>
        </p:spPr>
      </p:sp>
      <p:sp>
        <p:nvSpPr>
          <p:cNvPr name="TextBox 10" id="10"/>
          <p:cNvSpPr txBox="true"/>
          <p:nvPr/>
        </p:nvSpPr>
        <p:spPr>
          <a:xfrm rot="0">
            <a:off x="910244" y="448650"/>
            <a:ext cx="11223324" cy="753756"/>
          </a:xfrm>
          <a:prstGeom prst="rect">
            <a:avLst/>
          </a:prstGeom>
        </p:spPr>
        <p:txBody>
          <a:bodyPr anchor="t" rtlCol="false" tIns="0" lIns="0" bIns="0" rIns="0">
            <a:spAutoFit/>
          </a:bodyPr>
          <a:lstStyle/>
          <a:p>
            <a:pPr algn="l">
              <a:lnSpc>
                <a:spcPts val="5300"/>
              </a:lnSpc>
            </a:pPr>
            <a:r>
              <a:rPr lang="en-US" sz="5300" b="true">
                <a:solidFill>
                  <a:srgbClr val="8D0000"/>
                </a:solidFill>
                <a:latin typeface="Poppins Bold"/>
                <a:ea typeface="Poppins Bold"/>
                <a:cs typeface="Poppins Bold"/>
                <a:sym typeface="Poppins Bold"/>
              </a:rPr>
              <a:t>CHECK FOR OUTLIERS</a:t>
            </a:r>
          </a:p>
        </p:txBody>
      </p:sp>
      <p:sp>
        <p:nvSpPr>
          <p:cNvPr name="TextBox 11" id="11"/>
          <p:cNvSpPr txBox="true"/>
          <p:nvPr/>
        </p:nvSpPr>
        <p:spPr>
          <a:xfrm rot="0">
            <a:off x="1028700" y="1993441"/>
            <a:ext cx="6709928" cy="492138"/>
          </a:xfrm>
          <a:prstGeom prst="rect">
            <a:avLst/>
          </a:prstGeom>
        </p:spPr>
        <p:txBody>
          <a:bodyPr anchor="t" rtlCol="false" tIns="0" lIns="0" bIns="0" rIns="0">
            <a:spAutoFit/>
          </a:bodyPr>
          <a:lstStyle/>
          <a:p>
            <a:pPr algn="l">
              <a:lnSpc>
                <a:spcPts val="3999"/>
              </a:lnSpc>
            </a:pPr>
            <a:r>
              <a:rPr lang="en-US" b="true" sz="2499">
                <a:solidFill>
                  <a:srgbClr val="FF5757"/>
                </a:solidFill>
                <a:latin typeface="Poppins Bold"/>
                <a:ea typeface="Poppins Bold"/>
                <a:cs typeface="Poppins Bold"/>
                <a:sym typeface="Poppins Bold"/>
              </a:rPr>
              <a:t>Visualization Outliers – Histograms</a:t>
            </a:r>
          </a:p>
        </p:txBody>
      </p:sp>
      <p:sp>
        <p:nvSpPr>
          <p:cNvPr name="TextBox 12" id="12"/>
          <p:cNvSpPr txBox="true"/>
          <p:nvPr/>
        </p:nvSpPr>
        <p:spPr>
          <a:xfrm rot="0">
            <a:off x="730956" y="3085654"/>
            <a:ext cx="7352123" cy="4689119"/>
          </a:xfrm>
          <a:prstGeom prst="rect">
            <a:avLst/>
          </a:prstGeom>
        </p:spPr>
        <p:txBody>
          <a:bodyPr anchor="t" rtlCol="false" tIns="0" lIns="0" bIns="0" rIns="0">
            <a:spAutoFit/>
          </a:bodyPr>
          <a:lstStyle/>
          <a:p>
            <a:pPr algn="just">
              <a:lnSpc>
                <a:spcPts val="3138"/>
              </a:lnSpc>
              <a:spcBef>
                <a:spcPct val="0"/>
              </a:spcBef>
            </a:pPr>
            <a:r>
              <a:rPr lang="en-US" sz="2242">
                <a:solidFill>
                  <a:srgbClr val="000000"/>
                </a:solidFill>
                <a:latin typeface="Poppins"/>
                <a:ea typeface="Poppins"/>
                <a:cs typeface="Poppins"/>
                <a:sym typeface="Poppins"/>
              </a:rPr>
              <a:t>The histograms show that most features are normally distributed, such as </a:t>
            </a:r>
            <a:r>
              <a:rPr lang="en-US" b="true" sz="2242">
                <a:solidFill>
                  <a:srgbClr val="000000"/>
                </a:solidFill>
                <a:latin typeface="Poppins Bold"/>
                <a:ea typeface="Poppins Bold"/>
                <a:cs typeface="Poppins Bold"/>
                <a:sym typeface="Poppins Bold"/>
              </a:rPr>
              <a:t>sess</a:t>
            </a:r>
            <a:r>
              <a:rPr lang="en-US" b="true" sz="2242">
                <a:solidFill>
                  <a:srgbClr val="000000"/>
                </a:solidFill>
                <a:latin typeface="Poppins Bold"/>
                <a:ea typeface="Poppins Bold"/>
                <a:cs typeface="Poppins Bold"/>
                <a:sym typeface="Poppins Bold"/>
              </a:rPr>
              <a:t>ion duration, average order value, account length</a:t>
            </a:r>
            <a:r>
              <a:rPr lang="en-US" sz="2242">
                <a:solidFill>
                  <a:srgbClr val="000000"/>
                </a:solidFill>
                <a:latin typeface="Poppins"/>
                <a:ea typeface="Poppins"/>
                <a:cs typeface="Poppins"/>
                <a:sym typeface="Poppins"/>
              </a:rPr>
              <a:t>, and </a:t>
            </a:r>
            <a:r>
              <a:rPr lang="en-US" b="true" sz="2242">
                <a:solidFill>
                  <a:srgbClr val="000000"/>
                </a:solidFill>
                <a:latin typeface="Poppins Bold"/>
                <a:ea typeface="Poppins Bold"/>
                <a:cs typeface="Poppins Bold"/>
                <a:sym typeface="Poppins Bold"/>
              </a:rPr>
              <a:t>desktop sessions</a:t>
            </a:r>
            <a:r>
              <a:rPr lang="en-US" sz="2242">
                <a:solidFill>
                  <a:srgbClr val="000000"/>
                </a:solidFill>
                <a:latin typeface="Poppins"/>
                <a:ea typeface="Poppins"/>
                <a:cs typeface="Poppins"/>
                <a:sym typeface="Poppins"/>
              </a:rPr>
              <a:t>, all centered around typical mid-range values. In contrast, app transactions, </a:t>
            </a:r>
            <a:r>
              <a:rPr lang="en-US" b="true" sz="2242">
                <a:solidFill>
                  <a:srgbClr val="000000"/>
                </a:solidFill>
                <a:latin typeface="Poppins Bold"/>
                <a:ea typeface="Poppins Bold"/>
                <a:cs typeface="Poppins Bold"/>
                <a:sym typeface="Poppins Bold"/>
              </a:rPr>
              <a:t>add to wishlist</a:t>
            </a:r>
            <a:r>
              <a:rPr lang="en-US" sz="2242">
                <a:solidFill>
                  <a:srgbClr val="000000"/>
                </a:solidFill>
                <a:latin typeface="Poppins"/>
                <a:ea typeface="Poppins"/>
                <a:cs typeface="Poppins"/>
                <a:sym typeface="Poppins"/>
              </a:rPr>
              <a:t>, and </a:t>
            </a:r>
            <a:r>
              <a:rPr lang="en-US" b="true" sz="2242">
                <a:solidFill>
                  <a:srgbClr val="000000"/>
                </a:solidFill>
                <a:latin typeface="Poppins Bold"/>
                <a:ea typeface="Poppins Bold"/>
                <a:cs typeface="Poppins Bold"/>
                <a:sym typeface="Poppins Bold"/>
              </a:rPr>
              <a:t>customer service calls</a:t>
            </a:r>
            <a:r>
              <a:rPr lang="en-US" sz="2242">
                <a:solidFill>
                  <a:srgbClr val="000000"/>
                </a:solidFill>
                <a:latin typeface="Poppins"/>
                <a:ea typeface="Poppins"/>
                <a:cs typeface="Poppins"/>
                <a:sym typeface="Poppins"/>
              </a:rPr>
              <a:t> are </a:t>
            </a:r>
            <a:r>
              <a:rPr lang="en-US" b="true" sz="2242">
                <a:solidFill>
                  <a:srgbClr val="000000"/>
                </a:solidFill>
                <a:latin typeface="Poppins Bold"/>
                <a:ea typeface="Poppins Bold"/>
                <a:cs typeface="Poppins Bold"/>
                <a:sym typeface="Poppins Bold"/>
              </a:rPr>
              <a:t>right-skewed</a:t>
            </a:r>
            <a:r>
              <a:rPr lang="en-US" sz="2242">
                <a:solidFill>
                  <a:srgbClr val="000000"/>
                </a:solidFill>
                <a:latin typeface="Poppins"/>
                <a:ea typeface="Poppins"/>
                <a:cs typeface="Poppins"/>
                <a:sym typeface="Poppins"/>
              </a:rPr>
              <a:t>, indicating that most users have low activity with a few highly active outliers. </a:t>
            </a:r>
            <a:r>
              <a:rPr lang="en-US" b="true" sz="2242">
                <a:solidFill>
                  <a:srgbClr val="000000"/>
                </a:solidFill>
                <a:latin typeface="Poppins Bold"/>
                <a:ea typeface="Poppins Bold"/>
                <a:cs typeface="Poppins Bold"/>
                <a:sym typeface="Poppins Bold"/>
              </a:rPr>
              <a:t>Sale product views</a:t>
            </a:r>
            <a:r>
              <a:rPr lang="en-US" sz="2242">
                <a:solidFill>
                  <a:srgbClr val="000000"/>
                </a:solidFill>
                <a:latin typeface="Poppins"/>
                <a:ea typeface="Poppins"/>
                <a:cs typeface="Poppins"/>
                <a:sym typeface="Poppins"/>
              </a:rPr>
              <a:t> and </a:t>
            </a:r>
            <a:r>
              <a:rPr lang="en-US" b="true" sz="2242">
                <a:solidFill>
                  <a:srgbClr val="000000"/>
                </a:solidFill>
                <a:latin typeface="Poppins Bold"/>
                <a:ea typeface="Poppins Bold"/>
                <a:cs typeface="Poppins Bold"/>
                <a:sym typeface="Poppins Bold"/>
              </a:rPr>
              <a:t>promotion clicks</a:t>
            </a:r>
            <a:r>
              <a:rPr lang="en-US" sz="2242">
                <a:solidFill>
                  <a:srgbClr val="000000"/>
                </a:solidFill>
                <a:latin typeface="Poppins"/>
                <a:ea typeface="Poppins"/>
                <a:cs typeface="Poppins"/>
                <a:sym typeface="Poppins"/>
              </a:rPr>
              <a:t> also show mild right skewness, reflecting that a majority of customers engage moderately while a smaller group is significantly more active.</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3503507">
            <a:off x="5380001" y="9454402"/>
            <a:ext cx="5068421" cy="1710448"/>
            <a:chOff x="0" y="0"/>
            <a:chExt cx="1334893" cy="450488"/>
          </a:xfrm>
        </p:grpSpPr>
        <p:sp>
          <p:nvSpPr>
            <p:cNvPr name="Freeform 3" id="3"/>
            <p:cNvSpPr/>
            <p:nvPr/>
          </p:nvSpPr>
          <p:spPr>
            <a:xfrm flipH="false" flipV="false" rot="0">
              <a:off x="0" y="0"/>
              <a:ext cx="1334893" cy="450488"/>
            </a:xfrm>
            <a:custGeom>
              <a:avLst/>
              <a:gdLst/>
              <a:ahLst/>
              <a:cxnLst/>
              <a:rect r="r" b="b" t="t" l="l"/>
              <a:pathLst>
                <a:path h="450488" w="1334893">
                  <a:moveTo>
                    <a:pt x="77902" y="0"/>
                  </a:moveTo>
                  <a:lnTo>
                    <a:pt x="1256991" y="0"/>
                  </a:lnTo>
                  <a:cubicBezTo>
                    <a:pt x="1277652" y="0"/>
                    <a:pt x="1297467" y="8207"/>
                    <a:pt x="1312076" y="22817"/>
                  </a:cubicBezTo>
                  <a:cubicBezTo>
                    <a:pt x="1326685" y="37426"/>
                    <a:pt x="1334893" y="57241"/>
                    <a:pt x="1334893" y="77902"/>
                  </a:cubicBezTo>
                  <a:lnTo>
                    <a:pt x="1334893" y="372587"/>
                  </a:lnTo>
                  <a:cubicBezTo>
                    <a:pt x="1334893" y="393248"/>
                    <a:pt x="1326685" y="413062"/>
                    <a:pt x="1312076" y="427672"/>
                  </a:cubicBezTo>
                  <a:cubicBezTo>
                    <a:pt x="1297467" y="442281"/>
                    <a:pt x="1277652" y="450488"/>
                    <a:pt x="1256991" y="450488"/>
                  </a:cubicBezTo>
                  <a:lnTo>
                    <a:pt x="77902" y="450488"/>
                  </a:lnTo>
                  <a:cubicBezTo>
                    <a:pt x="57241" y="450488"/>
                    <a:pt x="37426" y="442281"/>
                    <a:pt x="22817" y="427672"/>
                  </a:cubicBezTo>
                  <a:cubicBezTo>
                    <a:pt x="8207" y="413062"/>
                    <a:pt x="0" y="393248"/>
                    <a:pt x="0" y="372587"/>
                  </a:cubicBezTo>
                  <a:lnTo>
                    <a:pt x="0" y="77902"/>
                  </a:lnTo>
                  <a:cubicBezTo>
                    <a:pt x="0" y="57241"/>
                    <a:pt x="8207" y="37426"/>
                    <a:pt x="22817" y="22817"/>
                  </a:cubicBezTo>
                  <a:cubicBezTo>
                    <a:pt x="37426" y="8207"/>
                    <a:pt x="57241" y="0"/>
                    <a:pt x="77902" y="0"/>
                  </a:cubicBezTo>
                  <a:close/>
                </a:path>
              </a:pathLst>
            </a:custGeom>
            <a:solidFill>
              <a:srgbClr val="FFE9E9"/>
            </a:solidFill>
          </p:spPr>
        </p:sp>
        <p:sp>
          <p:nvSpPr>
            <p:cNvPr name="TextBox 4" id="4"/>
            <p:cNvSpPr txBox="true"/>
            <p:nvPr/>
          </p:nvSpPr>
          <p:spPr>
            <a:xfrm>
              <a:off x="0" y="-333375"/>
              <a:ext cx="1334893" cy="783863"/>
            </a:xfrm>
            <a:prstGeom prst="rect">
              <a:avLst/>
            </a:prstGeom>
          </p:spPr>
          <p:txBody>
            <a:bodyPr anchor="ctr" rtlCol="false" tIns="50800" lIns="50800" bIns="50800" rIns="50800"/>
            <a:lstStyle/>
            <a:p>
              <a:pPr algn="ctr">
                <a:lnSpc>
                  <a:spcPts val="6249"/>
                </a:lnSpc>
              </a:pPr>
            </a:p>
          </p:txBody>
        </p:sp>
      </p:grpSp>
      <p:grpSp>
        <p:nvGrpSpPr>
          <p:cNvPr name="Group 5" id="5"/>
          <p:cNvGrpSpPr/>
          <p:nvPr/>
        </p:nvGrpSpPr>
        <p:grpSpPr>
          <a:xfrm rot="-3503507">
            <a:off x="551042" y="-1554003"/>
            <a:ext cx="5068421" cy="1710448"/>
            <a:chOff x="0" y="0"/>
            <a:chExt cx="1334893" cy="450488"/>
          </a:xfrm>
        </p:grpSpPr>
        <p:sp>
          <p:nvSpPr>
            <p:cNvPr name="Freeform 6" id="6"/>
            <p:cNvSpPr/>
            <p:nvPr/>
          </p:nvSpPr>
          <p:spPr>
            <a:xfrm flipH="false" flipV="false" rot="0">
              <a:off x="0" y="0"/>
              <a:ext cx="1334893" cy="450488"/>
            </a:xfrm>
            <a:custGeom>
              <a:avLst/>
              <a:gdLst/>
              <a:ahLst/>
              <a:cxnLst/>
              <a:rect r="r" b="b" t="t" l="l"/>
              <a:pathLst>
                <a:path h="450488" w="1334893">
                  <a:moveTo>
                    <a:pt x="77902" y="0"/>
                  </a:moveTo>
                  <a:lnTo>
                    <a:pt x="1256991" y="0"/>
                  </a:lnTo>
                  <a:cubicBezTo>
                    <a:pt x="1277652" y="0"/>
                    <a:pt x="1297467" y="8207"/>
                    <a:pt x="1312076" y="22817"/>
                  </a:cubicBezTo>
                  <a:cubicBezTo>
                    <a:pt x="1326685" y="37426"/>
                    <a:pt x="1334893" y="57241"/>
                    <a:pt x="1334893" y="77902"/>
                  </a:cubicBezTo>
                  <a:lnTo>
                    <a:pt x="1334893" y="372587"/>
                  </a:lnTo>
                  <a:cubicBezTo>
                    <a:pt x="1334893" y="393248"/>
                    <a:pt x="1326685" y="413062"/>
                    <a:pt x="1312076" y="427672"/>
                  </a:cubicBezTo>
                  <a:cubicBezTo>
                    <a:pt x="1297467" y="442281"/>
                    <a:pt x="1277652" y="450488"/>
                    <a:pt x="1256991" y="450488"/>
                  </a:cubicBezTo>
                  <a:lnTo>
                    <a:pt x="77902" y="450488"/>
                  </a:lnTo>
                  <a:cubicBezTo>
                    <a:pt x="57241" y="450488"/>
                    <a:pt x="37426" y="442281"/>
                    <a:pt x="22817" y="427672"/>
                  </a:cubicBezTo>
                  <a:cubicBezTo>
                    <a:pt x="8207" y="413062"/>
                    <a:pt x="0" y="393248"/>
                    <a:pt x="0" y="372587"/>
                  </a:cubicBezTo>
                  <a:lnTo>
                    <a:pt x="0" y="77902"/>
                  </a:lnTo>
                  <a:cubicBezTo>
                    <a:pt x="0" y="57241"/>
                    <a:pt x="8207" y="37426"/>
                    <a:pt x="22817" y="22817"/>
                  </a:cubicBezTo>
                  <a:cubicBezTo>
                    <a:pt x="37426" y="8207"/>
                    <a:pt x="57241" y="0"/>
                    <a:pt x="77902" y="0"/>
                  </a:cubicBezTo>
                  <a:close/>
                </a:path>
              </a:pathLst>
            </a:custGeom>
            <a:solidFill>
              <a:srgbClr val="FFE9E9"/>
            </a:solidFill>
          </p:spPr>
        </p:sp>
        <p:sp>
          <p:nvSpPr>
            <p:cNvPr name="TextBox 7" id="7"/>
            <p:cNvSpPr txBox="true"/>
            <p:nvPr/>
          </p:nvSpPr>
          <p:spPr>
            <a:xfrm>
              <a:off x="0" y="-333375"/>
              <a:ext cx="1334893" cy="783863"/>
            </a:xfrm>
            <a:prstGeom prst="rect">
              <a:avLst/>
            </a:prstGeom>
          </p:spPr>
          <p:txBody>
            <a:bodyPr anchor="ctr" rtlCol="false" tIns="50800" lIns="50800" bIns="50800" rIns="50800"/>
            <a:lstStyle/>
            <a:p>
              <a:pPr algn="ctr">
                <a:lnSpc>
                  <a:spcPts val="6249"/>
                </a:lnSpc>
              </a:pPr>
            </a:p>
          </p:txBody>
        </p:sp>
      </p:grpSp>
      <p:sp>
        <p:nvSpPr>
          <p:cNvPr name="AutoShape 8" id="8"/>
          <p:cNvSpPr/>
          <p:nvPr/>
        </p:nvSpPr>
        <p:spPr>
          <a:xfrm>
            <a:off x="-741824" y="1753741"/>
            <a:ext cx="10602143" cy="0"/>
          </a:xfrm>
          <a:prstGeom prst="line">
            <a:avLst/>
          </a:prstGeom>
          <a:ln cap="flat" w="28575">
            <a:solidFill>
              <a:srgbClr val="000000"/>
            </a:solidFill>
            <a:prstDash val="solid"/>
            <a:headEnd type="none" len="sm" w="sm"/>
            <a:tailEnd type="none" len="sm" w="sm"/>
          </a:ln>
        </p:spPr>
      </p:sp>
      <p:grpSp>
        <p:nvGrpSpPr>
          <p:cNvPr name="Group 9" id="9"/>
          <p:cNvGrpSpPr/>
          <p:nvPr/>
        </p:nvGrpSpPr>
        <p:grpSpPr>
          <a:xfrm rot="0">
            <a:off x="1133795" y="8070068"/>
            <a:ext cx="797784" cy="79778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C27F7F"/>
            </a:solidFill>
          </p:spPr>
        </p:sp>
        <p:sp>
          <p:nvSpPr>
            <p:cNvPr name="TextBox 11" id="11"/>
            <p:cNvSpPr txBox="true"/>
            <p:nvPr/>
          </p:nvSpPr>
          <p:spPr>
            <a:xfrm>
              <a:off x="0" y="-130175"/>
              <a:ext cx="711200" cy="739775"/>
            </a:xfrm>
            <a:prstGeom prst="rect">
              <a:avLst/>
            </a:prstGeom>
          </p:spPr>
          <p:txBody>
            <a:bodyPr anchor="ctr" rtlCol="false" tIns="50800" lIns="50800" bIns="50800" rIns="50800"/>
            <a:lstStyle/>
            <a:p>
              <a:pPr algn="ctr">
                <a:lnSpc>
                  <a:spcPts val="6249"/>
                </a:lnSpc>
              </a:pPr>
            </a:p>
          </p:txBody>
        </p:sp>
      </p:grpSp>
      <p:sp>
        <p:nvSpPr>
          <p:cNvPr name="TextBox 12" id="12"/>
          <p:cNvSpPr txBox="true"/>
          <p:nvPr/>
        </p:nvSpPr>
        <p:spPr>
          <a:xfrm rot="0">
            <a:off x="1028700" y="672421"/>
            <a:ext cx="13727827" cy="739163"/>
          </a:xfrm>
          <a:prstGeom prst="rect">
            <a:avLst/>
          </a:prstGeom>
        </p:spPr>
        <p:txBody>
          <a:bodyPr anchor="t" rtlCol="false" tIns="0" lIns="0" bIns="0" rIns="0">
            <a:spAutoFit/>
          </a:bodyPr>
          <a:lstStyle/>
          <a:p>
            <a:pPr algn="l">
              <a:lnSpc>
                <a:spcPts val="5100"/>
              </a:lnSpc>
            </a:pPr>
            <a:r>
              <a:rPr lang="en-US" sz="5100" b="true">
                <a:solidFill>
                  <a:srgbClr val="8D0000"/>
                </a:solidFill>
                <a:latin typeface="Poppins Bold"/>
                <a:ea typeface="Poppins Bold"/>
                <a:cs typeface="Poppins Bold"/>
                <a:sym typeface="Poppins Bold"/>
              </a:rPr>
              <a:t>CONCLUSION ABOUT VISUALIZATIONS</a:t>
            </a:r>
          </a:p>
        </p:txBody>
      </p:sp>
      <p:sp>
        <p:nvSpPr>
          <p:cNvPr name="TextBox 13" id="13"/>
          <p:cNvSpPr txBox="true"/>
          <p:nvPr/>
        </p:nvSpPr>
        <p:spPr>
          <a:xfrm rot="0">
            <a:off x="1133795" y="1939747"/>
            <a:ext cx="14243566" cy="2130351"/>
          </a:xfrm>
          <a:prstGeom prst="rect">
            <a:avLst/>
          </a:prstGeom>
        </p:spPr>
        <p:txBody>
          <a:bodyPr anchor="t" rtlCol="false" tIns="0" lIns="0" bIns="0" rIns="0">
            <a:spAutoFit/>
          </a:bodyPr>
          <a:lstStyle/>
          <a:p>
            <a:pPr algn="l" marL="431801" indent="-215900" lvl="1">
              <a:lnSpc>
                <a:spcPts val="2800"/>
              </a:lnSpc>
              <a:buFont typeface="Arial"/>
              <a:buChar char="•"/>
            </a:pPr>
            <a:r>
              <a:rPr lang="en-US" b="true" sz="2000">
                <a:solidFill>
                  <a:srgbClr val="8D0000"/>
                </a:solidFill>
                <a:latin typeface="Poppins Bold"/>
                <a:ea typeface="Poppins Bold"/>
                <a:cs typeface="Poppins Bold"/>
                <a:sym typeface="Poppins Bold"/>
              </a:rPr>
              <a:t>T</a:t>
            </a:r>
            <a:r>
              <a:rPr lang="en-US" b="true" sz="2000">
                <a:solidFill>
                  <a:srgbClr val="8D0000"/>
                </a:solidFill>
                <a:latin typeface="Poppins Bold"/>
                <a:ea typeface="Poppins Bold"/>
                <a:cs typeface="Poppins Bold"/>
                <a:sym typeface="Poppins Bold"/>
              </a:rPr>
              <a:t>he box plots </a:t>
            </a:r>
            <a:r>
              <a:rPr lang="en-US" sz="2000">
                <a:solidFill>
                  <a:srgbClr val="8D0000"/>
                </a:solidFill>
                <a:latin typeface="Poppins"/>
                <a:ea typeface="Poppins"/>
                <a:cs typeface="Poppins"/>
                <a:sym typeface="Poppins"/>
              </a:rPr>
              <a:t>reveal the range and outliers in the data, showing that several features (like promotion clicks, app transactions, and add-to-wishlist events) have a significant number of outliers, which can be critical in further analysis. </a:t>
            </a:r>
          </a:p>
          <a:p>
            <a:pPr algn="l" marL="431801" indent="-215900" lvl="1">
              <a:lnSpc>
                <a:spcPts val="2800"/>
              </a:lnSpc>
              <a:buFont typeface="Arial"/>
              <a:buChar char="•"/>
            </a:pPr>
            <a:r>
              <a:rPr lang="en-US" b="true" sz="2000">
                <a:solidFill>
                  <a:srgbClr val="8D0000"/>
                </a:solidFill>
                <a:latin typeface="Poppins Bold"/>
                <a:ea typeface="Poppins Bold"/>
                <a:cs typeface="Poppins Bold"/>
                <a:sym typeface="Poppins Bold"/>
              </a:rPr>
              <a:t>The histograms</a:t>
            </a:r>
            <a:r>
              <a:rPr lang="en-US" sz="2000">
                <a:solidFill>
                  <a:srgbClr val="8D0000"/>
                </a:solidFill>
                <a:latin typeface="Poppins"/>
                <a:ea typeface="Poppins"/>
                <a:cs typeface="Poppins"/>
                <a:sym typeface="Poppins"/>
              </a:rPr>
              <a:t> provide insights into the overall distribution of the data, with most features following a normal or right-skewed distribution, meaning that the majority of values are clustered around the median, with a tail extending to higher values.</a:t>
            </a:r>
          </a:p>
        </p:txBody>
      </p:sp>
      <p:sp>
        <p:nvSpPr>
          <p:cNvPr name="TextBox 14" id="14"/>
          <p:cNvSpPr txBox="true"/>
          <p:nvPr/>
        </p:nvSpPr>
        <p:spPr>
          <a:xfrm rot="0">
            <a:off x="1427592" y="4435689"/>
            <a:ext cx="14243566" cy="2835176"/>
          </a:xfrm>
          <a:prstGeom prst="rect">
            <a:avLst/>
          </a:prstGeom>
        </p:spPr>
        <p:txBody>
          <a:bodyPr anchor="t" rtlCol="false" tIns="0" lIns="0" bIns="0" rIns="0">
            <a:spAutoFit/>
          </a:bodyPr>
          <a:lstStyle/>
          <a:p>
            <a:pPr algn="just">
              <a:lnSpc>
                <a:spcPts val="2800"/>
              </a:lnSpc>
            </a:pPr>
            <a:r>
              <a:rPr lang="en-US" sz="2000" b="true">
                <a:solidFill>
                  <a:srgbClr val="8D0000"/>
                </a:solidFill>
                <a:latin typeface="Poppins Bold"/>
                <a:ea typeface="Poppins Bold"/>
                <a:cs typeface="Poppins Bold"/>
                <a:sym typeface="Poppins Bold"/>
              </a:rPr>
              <a:t>Observations:</a:t>
            </a:r>
          </a:p>
          <a:p>
            <a:pPr algn="just">
              <a:lnSpc>
                <a:spcPts val="2800"/>
              </a:lnSpc>
              <a:spcBef>
                <a:spcPct val="0"/>
              </a:spcBef>
            </a:pPr>
            <a:r>
              <a:rPr lang="en-US" sz="2000">
                <a:solidFill>
                  <a:srgbClr val="8D0000"/>
                </a:solidFill>
                <a:latin typeface="Poppins"/>
                <a:ea typeface="Poppins"/>
                <a:cs typeface="Poppins"/>
                <a:sym typeface="Poppins"/>
              </a:rPr>
              <a:t> - </a:t>
            </a:r>
            <a:r>
              <a:rPr lang="en-US" b="true" sz="2000">
                <a:solidFill>
                  <a:srgbClr val="8D0000"/>
                </a:solidFill>
                <a:latin typeface="Poppins Bold"/>
                <a:ea typeface="Poppins Bold"/>
                <a:cs typeface="Poppins Bold"/>
                <a:sym typeface="Poppins Bold"/>
              </a:rPr>
              <a:t>Normality:</a:t>
            </a:r>
            <a:r>
              <a:rPr lang="en-US" sz="2000">
                <a:solidFill>
                  <a:srgbClr val="8D0000"/>
                </a:solidFill>
                <a:latin typeface="Poppins"/>
                <a:ea typeface="Poppins"/>
                <a:cs typeface="Poppins"/>
                <a:sym typeface="Poppins"/>
              </a:rPr>
              <a:t> Session duration, average order value, promotion clicks, sale product views, and account length have distributions that resemble a normal distribution.</a:t>
            </a:r>
          </a:p>
          <a:p>
            <a:pPr algn="just">
              <a:lnSpc>
                <a:spcPts val="2800"/>
              </a:lnSpc>
              <a:spcBef>
                <a:spcPct val="0"/>
              </a:spcBef>
            </a:pPr>
            <a:r>
              <a:rPr lang="en-US" sz="2000">
                <a:solidFill>
                  <a:srgbClr val="8D0000"/>
                </a:solidFill>
                <a:latin typeface="Poppins"/>
                <a:ea typeface="Poppins"/>
                <a:cs typeface="Poppins"/>
                <a:sym typeface="Poppins"/>
              </a:rPr>
              <a:t> - </a:t>
            </a:r>
            <a:r>
              <a:rPr lang="en-US" b="true" sz="2000">
                <a:solidFill>
                  <a:srgbClr val="8D0000"/>
                </a:solidFill>
                <a:latin typeface="Poppins Bold"/>
                <a:ea typeface="Poppins Bold"/>
                <a:cs typeface="Poppins Bold"/>
                <a:sym typeface="Poppins Bold"/>
              </a:rPr>
              <a:t>Skewness:</a:t>
            </a:r>
            <a:r>
              <a:rPr lang="en-US" sz="2000">
                <a:solidFill>
                  <a:srgbClr val="8D0000"/>
                </a:solidFill>
                <a:latin typeface="Poppins"/>
                <a:ea typeface="Poppins"/>
                <a:cs typeface="Poppins"/>
                <a:sym typeface="Poppins"/>
              </a:rPr>
              <a:t> App transactions, add to wishlist, and customer service calls exhibit right-skewed distributions, indicating that most customers exhibit lower values for these metrics with few high-value outliers.</a:t>
            </a:r>
          </a:p>
          <a:p>
            <a:pPr algn="just">
              <a:lnSpc>
                <a:spcPts val="2800"/>
              </a:lnSpc>
              <a:spcBef>
                <a:spcPct val="0"/>
              </a:spcBef>
            </a:pPr>
            <a:r>
              <a:rPr lang="en-US" sz="2000">
                <a:solidFill>
                  <a:srgbClr val="8D0000"/>
                </a:solidFill>
                <a:latin typeface="Poppins"/>
                <a:ea typeface="Poppins"/>
                <a:cs typeface="Poppins"/>
                <a:sym typeface="Poppins"/>
              </a:rPr>
              <a:t> -</a:t>
            </a:r>
            <a:r>
              <a:rPr lang="en-US" b="true" sz="2000">
                <a:solidFill>
                  <a:srgbClr val="8D0000"/>
                </a:solidFill>
                <a:latin typeface="Poppins Bold"/>
                <a:ea typeface="Poppins Bold"/>
                <a:cs typeface="Poppins Bold"/>
                <a:sym typeface="Poppins Bold"/>
              </a:rPr>
              <a:t> Outliers: </a:t>
            </a:r>
            <a:r>
              <a:rPr lang="en-US" sz="2000">
                <a:solidFill>
                  <a:srgbClr val="8D0000"/>
                </a:solidFill>
                <a:latin typeface="Poppins"/>
                <a:ea typeface="Poppins"/>
                <a:cs typeface="Poppins"/>
                <a:sym typeface="Poppins"/>
              </a:rPr>
              <a:t>Box plots for app transactions, customer service calls, and add to wishlist highlight the presence of significant outliers, indicating users with unusual behavior.</a:t>
            </a:r>
          </a:p>
          <a:p>
            <a:pPr algn="just">
              <a:lnSpc>
                <a:spcPts val="2800"/>
              </a:lnSpc>
              <a:spcBef>
                <a:spcPct val="0"/>
              </a:spcBef>
            </a:pPr>
          </a:p>
        </p:txBody>
      </p:sp>
      <p:sp>
        <p:nvSpPr>
          <p:cNvPr name="TextBox 15" id="15"/>
          <p:cNvSpPr txBox="true"/>
          <p:nvPr/>
        </p:nvSpPr>
        <p:spPr>
          <a:xfrm rot="0">
            <a:off x="2468878" y="7794739"/>
            <a:ext cx="13350245" cy="1073113"/>
          </a:xfrm>
          <a:prstGeom prst="rect">
            <a:avLst/>
          </a:prstGeom>
        </p:spPr>
        <p:txBody>
          <a:bodyPr anchor="t" rtlCol="false" tIns="0" lIns="0" bIns="0" rIns="0">
            <a:spAutoFit/>
          </a:bodyPr>
          <a:lstStyle/>
          <a:p>
            <a:pPr algn="l">
              <a:lnSpc>
                <a:spcPts val="2800"/>
              </a:lnSpc>
              <a:spcBef>
                <a:spcPct val="0"/>
              </a:spcBef>
            </a:pPr>
            <a:r>
              <a:rPr lang="en-US" sz="2000">
                <a:solidFill>
                  <a:srgbClr val="8D0000"/>
                </a:solidFill>
                <a:latin typeface="Poppins"/>
                <a:ea typeface="Poppins"/>
                <a:cs typeface="Poppins"/>
                <a:sym typeface="Poppins"/>
              </a:rPr>
              <a:t>Based on these 2 visualizations, it suggests that while most customer behaviors follow expected patterns, certain metrics show skewed or extreme behaviors that could warrant further investigation, especially regarding how outliers impact the overall business outcomes.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3503507">
            <a:off x="5380001" y="9454402"/>
            <a:ext cx="5068421" cy="1710448"/>
            <a:chOff x="0" y="0"/>
            <a:chExt cx="1334893" cy="450488"/>
          </a:xfrm>
        </p:grpSpPr>
        <p:sp>
          <p:nvSpPr>
            <p:cNvPr name="Freeform 3" id="3"/>
            <p:cNvSpPr/>
            <p:nvPr/>
          </p:nvSpPr>
          <p:spPr>
            <a:xfrm flipH="false" flipV="false" rot="0">
              <a:off x="0" y="0"/>
              <a:ext cx="1334893" cy="450488"/>
            </a:xfrm>
            <a:custGeom>
              <a:avLst/>
              <a:gdLst/>
              <a:ahLst/>
              <a:cxnLst/>
              <a:rect r="r" b="b" t="t" l="l"/>
              <a:pathLst>
                <a:path h="450488" w="1334893">
                  <a:moveTo>
                    <a:pt x="77902" y="0"/>
                  </a:moveTo>
                  <a:lnTo>
                    <a:pt x="1256991" y="0"/>
                  </a:lnTo>
                  <a:cubicBezTo>
                    <a:pt x="1277652" y="0"/>
                    <a:pt x="1297467" y="8207"/>
                    <a:pt x="1312076" y="22817"/>
                  </a:cubicBezTo>
                  <a:cubicBezTo>
                    <a:pt x="1326685" y="37426"/>
                    <a:pt x="1334893" y="57241"/>
                    <a:pt x="1334893" y="77902"/>
                  </a:cubicBezTo>
                  <a:lnTo>
                    <a:pt x="1334893" y="372587"/>
                  </a:lnTo>
                  <a:cubicBezTo>
                    <a:pt x="1334893" y="393248"/>
                    <a:pt x="1326685" y="413062"/>
                    <a:pt x="1312076" y="427672"/>
                  </a:cubicBezTo>
                  <a:cubicBezTo>
                    <a:pt x="1297467" y="442281"/>
                    <a:pt x="1277652" y="450488"/>
                    <a:pt x="1256991" y="450488"/>
                  </a:cubicBezTo>
                  <a:lnTo>
                    <a:pt x="77902" y="450488"/>
                  </a:lnTo>
                  <a:cubicBezTo>
                    <a:pt x="57241" y="450488"/>
                    <a:pt x="37426" y="442281"/>
                    <a:pt x="22817" y="427672"/>
                  </a:cubicBezTo>
                  <a:cubicBezTo>
                    <a:pt x="8207" y="413062"/>
                    <a:pt x="0" y="393248"/>
                    <a:pt x="0" y="372587"/>
                  </a:cubicBezTo>
                  <a:lnTo>
                    <a:pt x="0" y="77902"/>
                  </a:lnTo>
                  <a:cubicBezTo>
                    <a:pt x="0" y="57241"/>
                    <a:pt x="8207" y="37426"/>
                    <a:pt x="22817" y="22817"/>
                  </a:cubicBezTo>
                  <a:cubicBezTo>
                    <a:pt x="37426" y="8207"/>
                    <a:pt x="57241" y="0"/>
                    <a:pt x="77902" y="0"/>
                  </a:cubicBezTo>
                  <a:close/>
                </a:path>
              </a:pathLst>
            </a:custGeom>
            <a:solidFill>
              <a:srgbClr val="FFE9E9"/>
            </a:solidFill>
          </p:spPr>
        </p:sp>
        <p:sp>
          <p:nvSpPr>
            <p:cNvPr name="TextBox 4" id="4"/>
            <p:cNvSpPr txBox="true"/>
            <p:nvPr/>
          </p:nvSpPr>
          <p:spPr>
            <a:xfrm>
              <a:off x="0" y="-333375"/>
              <a:ext cx="1334893" cy="783863"/>
            </a:xfrm>
            <a:prstGeom prst="rect">
              <a:avLst/>
            </a:prstGeom>
          </p:spPr>
          <p:txBody>
            <a:bodyPr anchor="ctr" rtlCol="false" tIns="50800" lIns="50800" bIns="50800" rIns="50800"/>
            <a:lstStyle/>
            <a:p>
              <a:pPr algn="ctr">
                <a:lnSpc>
                  <a:spcPts val="6249"/>
                </a:lnSpc>
              </a:pPr>
            </a:p>
          </p:txBody>
        </p:sp>
      </p:grpSp>
      <p:grpSp>
        <p:nvGrpSpPr>
          <p:cNvPr name="Group 5" id="5"/>
          <p:cNvGrpSpPr/>
          <p:nvPr/>
        </p:nvGrpSpPr>
        <p:grpSpPr>
          <a:xfrm rot="-3503507">
            <a:off x="551042" y="-1554003"/>
            <a:ext cx="5068421" cy="1710448"/>
            <a:chOff x="0" y="0"/>
            <a:chExt cx="1334893" cy="450488"/>
          </a:xfrm>
        </p:grpSpPr>
        <p:sp>
          <p:nvSpPr>
            <p:cNvPr name="Freeform 6" id="6"/>
            <p:cNvSpPr/>
            <p:nvPr/>
          </p:nvSpPr>
          <p:spPr>
            <a:xfrm flipH="false" flipV="false" rot="0">
              <a:off x="0" y="0"/>
              <a:ext cx="1334893" cy="450488"/>
            </a:xfrm>
            <a:custGeom>
              <a:avLst/>
              <a:gdLst/>
              <a:ahLst/>
              <a:cxnLst/>
              <a:rect r="r" b="b" t="t" l="l"/>
              <a:pathLst>
                <a:path h="450488" w="1334893">
                  <a:moveTo>
                    <a:pt x="77902" y="0"/>
                  </a:moveTo>
                  <a:lnTo>
                    <a:pt x="1256991" y="0"/>
                  </a:lnTo>
                  <a:cubicBezTo>
                    <a:pt x="1277652" y="0"/>
                    <a:pt x="1297467" y="8207"/>
                    <a:pt x="1312076" y="22817"/>
                  </a:cubicBezTo>
                  <a:cubicBezTo>
                    <a:pt x="1326685" y="37426"/>
                    <a:pt x="1334893" y="57241"/>
                    <a:pt x="1334893" y="77902"/>
                  </a:cubicBezTo>
                  <a:lnTo>
                    <a:pt x="1334893" y="372587"/>
                  </a:lnTo>
                  <a:cubicBezTo>
                    <a:pt x="1334893" y="393248"/>
                    <a:pt x="1326685" y="413062"/>
                    <a:pt x="1312076" y="427672"/>
                  </a:cubicBezTo>
                  <a:cubicBezTo>
                    <a:pt x="1297467" y="442281"/>
                    <a:pt x="1277652" y="450488"/>
                    <a:pt x="1256991" y="450488"/>
                  </a:cubicBezTo>
                  <a:lnTo>
                    <a:pt x="77902" y="450488"/>
                  </a:lnTo>
                  <a:cubicBezTo>
                    <a:pt x="57241" y="450488"/>
                    <a:pt x="37426" y="442281"/>
                    <a:pt x="22817" y="427672"/>
                  </a:cubicBezTo>
                  <a:cubicBezTo>
                    <a:pt x="8207" y="413062"/>
                    <a:pt x="0" y="393248"/>
                    <a:pt x="0" y="372587"/>
                  </a:cubicBezTo>
                  <a:lnTo>
                    <a:pt x="0" y="77902"/>
                  </a:lnTo>
                  <a:cubicBezTo>
                    <a:pt x="0" y="57241"/>
                    <a:pt x="8207" y="37426"/>
                    <a:pt x="22817" y="22817"/>
                  </a:cubicBezTo>
                  <a:cubicBezTo>
                    <a:pt x="37426" y="8207"/>
                    <a:pt x="57241" y="0"/>
                    <a:pt x="77902" y="0"/>
                  </a:cubicBezTo>
                  <a:close/>
                </a:path>
              </a:pathLst>
            </a:custGeom>
            <a:solidFill>
              <a:srgbClr val="FFE9E9"/>
            </a:solidFill>
          </p:spPr>
        </p:sp>
        <p:sp>
          <p:nvSpPr>
            <p:cNvPr name="TextBox 7" id="7"/>
            <p:cNvSpPr txBox="true"/>
            <p:nvPr/>
          </p:nvSpPr>
          <p:spPr>
            <a:xfrm>
              <a:off x="0" y="-333375"/>
              <a:ext cx="1334893" cy="783863"/>
            </a:xfrm>
            <a:prstGeom prst="rect">
              <a:avLst/>
            </a:prstGeom>
          </p:spPr>
          <p:txBody>
            <a:bodyPr anchor="ctr" rtlCol="false" tIns="50800" lIns="50800" bIns="50800" rIns="50800"/>
            <a:lstStyle/>
            <a:p>
              <a:pPr algn="ctr">
                <a:lnSpc>
                  <a:spcPts val="6249"/>
                </a:lnSpc>
              </a:pPr>
            </a:p>
          </p:txBody>
        </p:sp>
      </p:grpSp>
      <p:sp>
        <p:nvSpPr>
          <p:cNvPr name="AutoShape 8" id="8"/>
          <p:cNvSpPr/>
          <p:nvPr/>
        </p:nvSpPr>
        <p:spPr>
          <a:xfrm>
            <a:off x="-159266" y="1601440"/>
            <a:ext cx="10602143" cy="0"/>
          </a:xfrm>
          <a:prstGeom prst="line">
            <a:avLst/>
          </a:prstGeom>
          <a:ln cap="flat" w="28575">
            <a:solidFill>
              <a:srgbClr val="000000"/>
            </a:solidFill>
            <a:prstDash val="solid"/>
            <a:headEnd type="none" len="sm" w="sm"/>
            <a:tailEnd type="none" len="sm" w="sm"/>
          </a:ln>
        </p:spPr>
      </p:sp>
      <p:sp>
        <p:nvSpPr>
          <p:cNvPr name="Freeform 9" id="9"/>
          <p:cNvSpPr/>
          <p:nvPr/>
        </p:nvSpPr>
        <p:spPr>
          <a:xfrm flipH="false" flipV="false" rot="0">
            <a:off x="10442877" y="2447479"/>
            <a:ext cx="5754119" cy="6113274"/>
          </a:xfrm>
          <a:custGeom>
            <a:avLst/>
            <a:gdLst/>
            <a:ahLst/>
            <a:cxnLst/>
            <a:rect r="r" b="b" t="t" l="l"/>
            <a:pathLst>
              <a:path h="6113274" w="5754119">
                <a:moveTo>
                  <a:pt x="0" y="0"/>
                </a:moveTo>
                <a:lnTo>
                  <a:pt x="5754119" y="0"/>
                </a:lnTo>
                <a:lnTo>
                  <a:pt x="5754119" y="6113274"/>
                </a:lnTo>
                <a:lnTo>
                  <a:pt x="0" y="6113274"/>
                </a:lnTo>
                <a:lnTo>
                  <a:pt x="0" y="0"/>
                </a:lnTo>
                <a:close/>
              </a:path>
            </a:pathLst>
          </a:custGeom>
          <a:blipFill>
            <a:blip r:embed="rId2"/>
            <a:stretch>
              <a:fillRect l="0" t="0" r="0" b="0"/>
            </a:stretch>
          </a:blipFill>
        </p:spPr>
      </p:sp>
      <p:sp>
        <p:nvSpPr>
          <p:cNvPr name="TextBox 10" id="10"/>
          <p:cNvSpPr txBox="true"/>
          <p:nvPr/>
        </p:nvSpPr>
        <p:spPr>
          <a:xfrm rot="0">
            <a:off x="9364810" y="1793416"/>
            <a:ext cx="8283704" cy="492138"/>
          </a:xfrm>
          <a:prstGeom prst="rect">
            <a:avLst/>
          </a:prstGeom>
        </p:spPr>
        <p:txBody>
          <a:bodyPr anchor="t" rtlCol="false" tIns="0" lIns="0" bIns="0" rIns="0">
            <a:spAutoFit/>
          </a:bodyPr>
          <a:lstStyle/>
          <a:p>
            <a:pPr algn="l">
              <a:lnSpc>
                <a:spcPts val="3999"/>
              </a:lnSpc>
            </a:pPr>
            <a:r>
              <a:rPr lang="en-US" b="true" sz="2499">
                <a:solidFill>
                  <a:srgbClr val="FF5757"/>
                </a:solidFill>
                <a:latin typeface="Poppins Bold"/>
                <a:ea typeface="Poppins Bold"/>
                <a:cs typeface="Poppins Bold"/>
                <a:sym typeface="Poppins Bold"/>
              </a:rPr>
              <a:t>Correlation ships between ‘churn’ and others</a:t>
            </a:r>
          </a:p>
        </p:txBody>
      </p:sp>
      <p:sp>
        <p:nvSpPr>
          <p:cNvPr name="TextBox 11" id="11"/>
          <p:cNvSpPr txBox="true"/>
          <p:nvPr/>
        </p:nvSpPr>
        <p:spPr>
          <a:xfrm rot="0">
            <a:off x="787511" y="668008"/>
            <a:ext cx="14929312" cy="759484"/>
          </a:xfrm>
          <a:prstGeom prst="rect">
            <a:avLst/>
          </a:prstGeom>
        </p:spPr>
        <p:txBody>
          <a:bodyPr anchor="t" rtlCol="false" tIns="0" lIns="0" bIns="0" rIns="0">
            <a:spAutoFit/>
          </a:bodyPr>
          <a:lstStyle/>
          <a:p>
            <a:pPr algn="l">
              <a:lnSpc>
                <a:spcPts val="2899"/>
              </a:lnSpc>
            </a:pPr>
            <a:r>
              <a:rPr lang="en-US" sz="2899" b="true">
                <a:solidFill>
                  <a:srgbClr val="8D0000"/>
                </a:solidFill>
                <a:latin typeface="Poppins Bold"/>
                <a:ea typeface="Poppins Bold"/>
                <a:cs typeface="Poppins Bold"/>
                <a:sym typeface="Poppins Bold"/>
              </a:rPr>
              <a:t>ANALYSIS OF THE DEPENDENT VARIABLE (CHURN) VS INDEPENDENT VARIABLES</a:t>
            </a:r>
          </a:p>
          <a:p>
            <a:pPr algn="l">
              <a:lnSpc>
                <a:spcPts val="2899"/>
              </a:lnSpc>
            </a:pPr>
          </a:p>
        </p:txBody>
      </p:sp>
      <p:sp>
        <p:nvSpPr>
          <p:cNvPr name="TextBox 12" id="12"/>
          <p:cNvSpPr txBox="true"/>
          <p:nvPr/>
        </p:nvSpPr>
        <p:spPr>
          <a:xfrm rot="0">
            <a:off x="1045622" y="2095237"/>
            <a:ext cx="7511146" cy="2735118"/>
          </a:xfrm>
          <a:prstGeom prst="rect">
            <a:avLst/>
          </a:prstGeom>
        </p:spPr>
        <p:txBody>
          <a:bodyPr anchor="t" rtlCol="false" tIns="0" lIns="0" bIns="0" rIns="0">
            <a:spAutoFit/>
          </a:bodyPr>
          <a:lstStyle/>
          <a:p>
            <a:pPr algn="l">
              <a:lnSpc>
                <a:spcPts val="3080"/>
              </a:lnSpc>
              <a:spcBef>
                <a:spcPct val="0"/>
              </a:spcBef>
            </a:pPr>
            <a:r>
              <a:rPr lang="en-US" b="true" sz="2200">
                <a:solidFill>
                  <a:srgbClr val="545454"/>
                </a:solidFill>
                <a:latin typeface="Poppins Bold"/>
                <a:ea typeface="Poppins Bold"/>
                <a:cs typeface="Poppins Bold"/>
                <a:sym typeface="Poppins Bold"/>
              </a:rPr>
              <a:t>Until now we've looked into the numeric variables, their missing data, duplicates, distribution, and outliers. A key part of the customer behaviour data is to understand which "behaviours" aka idependent varialbes in our dataset can help us predict customers deciding to stop using the product, aka "churn".</a:t>
            </a:r>
          </a:p>
        </p:txBody>
      </p:sp>
      <p:sp>
        <p:nvSpPr>
          <p:cNvPr name="TextBox 13" id="13"/>
          <p:cNvSpPr txBox="true"/>
          <p:nvPr/>
        </p:nvSpPr>
        <p:spPr>
          <a:xfrm rot="0">
            <a:off x="1045622" y="4935130"/>
            <a:ext cx="7271572" cy="1563469"/>
          </a:xfrm>
          <a:prstGeom prst="rect">
            <a:avLst/>
          </a:prstGeom>
        </p:spPr>
        <p:txBody>
          <a:bodyPr anchor="t" rtlCol="false" tIns="0" lIns="0" bIns="0" rIns="0">
            <a:spAutoFit/>
          </a:bodyPr>
          <a:lstStyle/>
          <a:p>
            <a:pPr algn="l">
              <a:lnSpc>
                <a:spcPts val="3080"/>
              </a:lnSpc>
              <a:spcBef>
                <a:spcPct val="0"/>
              </a:spcBef>
            </a:pPr>
            <a:r>
              <a:rPr lang="en-US" b="true" sz="2200">
                <a:solidFill>
                  <a:srgbClr val="4B4B4B"/>
                </a:solidFill>
                <a:latin typeface="Poppins Bold"/>
                <a:ea typeface="Poppins Bold"/>
                <a:cs typeface="Poppins Bold"/>
                <a:sym typeface="Poppins Bold"/>
              </a:rPr>
              <a:t>Another variable that we haven't analysed yet is the location code, but we might be able to find value in comparing it with the churn and finding out any potential correlations.</a:t>
            </a:r>
          </a:p>
        </p:txBody>
      </p:sp>
      <p:sp>
        <p:nvSpPr>
          <p:cNvPr name="TextBox 14" id="14"/>
          <p:cNvSpPr txBox="true"/>
          <p:nvPr/>
        </p:nvSpPr>
        <p:spPr>
          <a:xfrm rot="0">
            <a:off x="1028700" y="6689099"/>
            <a:ext cx="8336110" cy="2526129"/>
          </a:xfrm>
          <a:prstGeom prst="rect">
            <a:avLst/>
          </a:prstGeom>
        </p:spPr>
        <p:txBody>
          <a:bodyPr anchor="t" rtlCol="false" tIns="0" lIns="0" bIns="0" rIns="0">
            <a:spAutoFit/>
          </a:bodyPr>
          <a:lstStyle/>
          <a:p>
            <a:pPr algn="l">
              <a:lnSpc>
                <a:spcPts val="2520"/>
              </a:lnSpc>
              <a:spcBef>
                <a:spcPct val="0"/>
              </a:spcBef>
            </a:pPr>
            <a:r>
              <a:rPr lang="en-US" b="true" sz="1800">
                <a:solidFill>
                  <a:srgbClr val="545454"/>
                </a:solidFill>
                <a:latin typeface="Poppins Bold"/>
                <a:ea typeface="Poppins Bold"/>
                <a:cs typeface="Poppins Bold"/>
                <a:sym typeface="Poppins Bold"/>
              </a:rPr>
              <a:t>Features such as sav</a:t>
            </a:r>
            <a:r>
              <a:rPr lang="en-US" b="true" sz="1800">
                <a:solidFill>
                  <a:srgbClr val="545454"/>
                </a:solidFill>
                <a:latin typeface="Poppins Bold"/>
                <a:ea typeface="Poppins Bold"/>
                <a:cs typeface="Poppins Bold"/>
                <a:sym typeface="Poppins Bold"/>
              </a:rPr>
              <a:t>ing </a:t>
            </a:r>
            <a:r>
              <a:rPr lang="en-US" b="true" sz="1800">
                <a:solidFill>
                  <a:srgbClr val="004AAD"/>
                </a:solidFill>
                <a:latin typeface="Poppins Bold"/>
                <a:ea typeface="Poppins Bold"/>
                <a:cs typeface="Poppins Bold"/>
                <a:sym typeface="Poppins Bold"/>
              </a:rPr>
              <a:t>credit_card_info_say_yes(0.2418)</a:t>
            </a:r>
            <a:r>
              <a:rPr lang="en-US" b="true" sz="1800">
                <a:solidFill>
                  <a:srgbClr val="545454"/>
                </a:solidFill>
                <a:latin typeface="Poppins Bold"/>
                <a:ea typeface="Poppins Bold"/>
                <a:cs typeface="Poppins Bold"/>
                <a:sym typeface="Poppins Bold"/>
              </a:rPr>
              <a:t> and </a:t>
            </a:r>
            <a:r>
              <a:rPr lang="en-US" b="true" sz="1800">
                <a:solidFill>
                  <a:srgbClr val="004AAD"/>
                </a:solidFill>
                <a:latin typeface="Poppins Bold"/>
                <a:ea typeface="Poppins Bold"/>
                <a:cs typeface="Poppins Bold"/>
                <a:sym typeface="Poppins Bold"/>
              </a:rPr>
              <a:t>customer_service_calls(0.2254)</a:t>
            </a:r>
            <a:r>
              <a:rPr lang="en-US" b="true" sz="1800">
                <a:solidFill>
                  <a:srgbClr val="545454"/>
                </a:solidFill>
                <a:latin typeface="Poppins Bold"/>
                <a:ea typeface="Poppins Bold"/>
                <a:cs typeface="Poppins Bold"/>
                <a:sym typeface="Poppins Bold"/>
              </a:rPr>
              <a:t> show positive correlations with churn, indicating that customers engaging in these actions are more likely to churn. </a:t>
            </a:r>
          </a:p>
          <a:p>
            <a:pPr algn="l">
              <a:lnSpc>
                <a:spcPts val="2520"/>
              </a:lnSpc>
              <a:spcBef>
                <a:spcPct val="0"/>
              </a:spcBef>
            </a:pPr>
            <a:r>
              <a:rPr lang="en-US" b="true" sz="1800">
                <a:solidFill>
                  <a:srgbClr val="545454"/>
                </a:solidFill>
                <a:latin typeface="Poppins Bold"/>
                <a:ea typeface="Poppins Bold"/>
                <a:cs typeface="Poppins Bold"/>
                <a:sym typeface="Poppins Bold"/>
              </a:rPr>
              <a:t>On the other hand, features like </a:t>
            </a:r>
            <a:r>
              <a:rPr lang="en-US" b="true" sz="1800">
                <a:solidFill>
                  <a:srgbClr val="FF5757"/>
                </a:solidFill>
                <a:latin typeface="Poppins Bold"/>
                <a:ea typeface="Poppins Bold"/>
                <a:cs typeface="Poppins Bold"/>
                <a:sym typeface="Poppins Bold"/>
              </a:rPr>
              <a:t>push_status_yes (-0.0887)</a:t>
            </a:r>
            <a:r>
              <a:rPr lang="en-US" b="true" sz="1800">
                <a:solidFill>
                  <a:srgbClr val="545454"/>
                </a:solidFill>
                <a:latin typeface="Poppins Bold"/>
                <a:ea typeface="Poppins Bold"/>
                <a:cs typeface="Poppins Bold"/>
                <a:sym typeface="Poppins Bold"/>
              </a:rPr>
              <a:t> and </a:t>
            </a:r>
            <a:r>
              <a:rPr lang="en-US" b="true" sz="1800">
                <a:solidFill>
                  <a:srgbClr val="FF5757"/>
                </a:solidFill>
                <a:latin typeface="Poppins Bold"/>
                <a:ea typeface="Poppins Bold"/>
                <a:cs typeface="Poppins Bold"/>
                <a:sym typeface="Poppins Bold"/>
              </a:rPr>
              <a:t>app_transactions (-0.0774) </a:t>
            </a:r>
            <a:r>
              <a:rPr lang="en-US" b="true" sz="1800">
                <a:solidFill>
                  <a:srgbClr val="545454"/>
                </a:solidFill>
                <a:latin typeface="Poppins Bold"/>
                <a:ea typeface="Poppins Bold"/>
                <a:cs typeface="Poppins Bold"/>
                <a:sym typeface="Poppins Bold"/>
              </a:rPr>
              <a:t>have negative correlations, suggesting that users receiving push notifications or conducting transactions in the app are less likely to churn.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3503507">
            <a:off x="5380001" y="9454402"/>
            <a:ext cx="5068421" cy="1710448"/>
            <a:chOff x="0" y="0"/>
            <a:chExt cx="1334893" cy="450488"/>
          </a:xfrm>
        </p:grpSpPr>
        <p:sp>
          <p:nvSpPr>
            <p:cNvPr name="Freeform 3" id="3"/>
            <p:cNvSpPr/>
            <p:nvPr/>
          </p:nvSpPr>
          <p:spPr>
            <a:xfrm flipH="false" flipV="false" rot="0">
              <a:off x="0" y="0"/>
              <a:ext cx="1334893" cy="450488"/>
            </a:xfrm>
            <a:custGeom>
              <a:avLst/>
              <a:gdLst/>
              <a:ahLst/>
              <a:cxnLst/>
              <a:rect r="r" b="b" t="t" l="l"/>
              <a:pathLst>
                <a:path h="450488" w="1334893">
                  <a:moveTo>
                    <a:pt x="77902" y="0"/>
                  </a:moveTo>
                  <a:lnTo>
                    <a:pt x="1256991" y="0"/>
                  </a:lnTo>
                  <a:cubicBezTo>
                    <a:pt x="1277652" y="0"/>
                    <a:pt x="1297467" y="8207"/>
                    <a:pt x="1312076" y="22817"/>
                  </a:cubicBezTo>
                  <a:cubicBezTo>
                    <a:pt x="1326685" y="37426"/>
                    <a:pt x="1334893" y="57241"/>
                    <a:pt x="1334893" y="77902"/>
                  </a:cubicBezTo>
                  <a:lnTo>
                    <a:pt x="1334893" y="372587"/>
                  </a:lnTo>
                  <a:cubicBezTo>
                    <a:pt x="1334893" y="393248"/>
                    <a:pt x="1326685" y="413062"/>
                    <a:pt x="1312076" y="427672"/>
                  </a:cubicBezTo>
                  <a:cubicBezTo>
                    <a:pt x="1297467" y="442281"/>
                    <a:pt x="1277652" y="450488"/>
                    <a:pt x="1256991" y="450488"/>
                  </a:cubicBezTo>
                  <a:lnTo>
                    <a:pt x="77902" y="450488"/>
                  </a:lnTo>
                  <a:cubicBezTo>
                    <a:pt x="57241" y="450488"/>
                    <a:pt x="37426" y="442281"/>
                    <a:pt x="22817" y="427672"/>
                  </a:cubicBezTo>
                  <a:cubicBezTo>
                    <a:pt x="8207" y="413062"/>
                    <a:pt x="0" y="393248"/>
                    <a:pt x="0" y="372587"/>
                  </a:cubicBezTo>
                  <a:lnTo>
                    <a:pt x="0" y="77902"/>
                  </a:lnTo>
                  <a:cubicBezTo>
                    <a:pt x="0" y="57241"/>
                    <a:pt x="8207" y="37426"/>
                    <a:pt x="22817" y="22817"/>
                  </a:cubicBezTo>
                  <a:cubicBezTo>
                    <a:pt x="37426" y="8207"/>
                    <a:pt x="57241" y="0"/>
                    <a:pt x="77902" y="0"/>
                  </a:cubicBezTo>
                  <a:close/>
                </a:path>
              </a:pathLst>
            </a:custGeom>
            <a:solidFill>
              <a:srgbClr val="FFE9E9"/>
            </a:solidFill>
          </p:spPr>
        </p:sp>
        <p:sp>
          <p:nvSpPr>
            <p:cNvPr name="TextBox 4" id="4"/>
            <p:cNvSpPr txBox="true"/>
            <p:nvPr/>
          </p:nvSpPr>
          <p:spPr>
            <a:xfrm>
              <a:off x="0" y="-333375"/>
              <a:ext cx="1334893" cy="783863"/>
            </a:xfrm>
            <a:prstGeom prst="rect">
              <a:avLst/>
            </a:prstGeom>
          </p:spPr>
          <p:txBody>
            <a:bodyPr anchor="ctr" rtlCol="false" tIns="50800" lIns="50800" bIns="50800" rIns="50800"/>
            <a:lstStyle/>
            <a:p>
              <a:pPr algn="ctr">
                <a:lnSpc>
                  <a:spcPts val="6249"/>
                </a:lnSpc>
              </a:pPr>
            </a:p>
          </p:txBody>
        </p:sp>
      </p:grpSp>
      <p:grpSp>
        <p:nvGrpSpPr>
          <p:cNvPr name="Group 5" id="5"/>
          <p:cNvGrpSpPr/>
          <p:nvPr/>
        </p:nvGrpSpPr>
        <p:grpSpPr>
          <a:xfrm rot="-3503507">
            <a:off x="551042" y="-1554003"/>
            <a:ext cx="5068421" cy="1710448"/>
            <a:chOff x="0" y="0"/>
            <a:chExt cx="1334893" cy="450488"/>
          </a:xfrm>
        </p:grpSpPr>
        <p:sp>
          <p:nvSpPr>
            <p:cNvPr name="Freeform 6" id="6"/>
            <p:cNvSpPr/>
            <p:nvPr/>
          </p:nvSpPr>
          <p:spPr>
            <a:xfrm flipH="false" flipV="false" rot="0">
              <a:off x="0" y="0"/>
              <a:ext cx="1334893" cy="450488"/>
            </a:xfrm>
            <a:custGeom>
              <a:avLst/>
              <a:gdLst/>
              <a:ahLst/>
              <a:cxnLst/>
              <a:rect r="r" b="b" t="t" l="l"/>
              <a:pathLst>
                <a:path h="450488" w="1334893">
                  <a:moveTo>
                    <a:pt x="77902" y="0"/>
                  </a:moveTo>
                  <a:lnTo>
                    <a:pt x="1256991" y="0"/>
                  </a:lnTo>
                  <a:cubicBezTo>
                    <a:pt x="1277652" y="0"/>
                    <a:pt x="1297467" y="8207"/>
                    <a:pt x="1312076" y="22817"/>
                  </a:cubicBezTo>
                  <a:cubicBezTo>
                    <a:pt x="1326685" y="37426"/>
                    <a:pt x="1334893" y="57241"/>
                    <a:pt x="1334893" y="77902"/>
                  </a:cubicBezTo>
                  <a:lnTo>
                    <a:pt x="1334893" y="372587"/>
                  </a:lnTo>
                  <a:cubicBezTo>
                    <a:pt x="1334893" y="393248"/>
                    <a:pt x="1326685" y="413062"/>
                    <a:pt x="1312076" y="427672"/>
                  </a:cubicBezTo>
                  <a:cubicBezTo>
                    <a:pt x="1297467" y="442281"/>
                    <a:pt x="1277652" y="450488"/>
                    <a:pt x="1256991" y="450488"/>
                  </a:cubicBezTo>
                  <a:lnTo>
                    <a:pt x="77902" y="450488"/>
                  </a:lnTo>
                  <a:cubicBezTo>
                    <a:pt x="57241" y="450488"/>
                    <a:pt x="37426" y="442281"/>
                    <a:pt x="22817" y="427672"/>
                  </a:cubicBezTo>
                  <a:cubicBezTo>
                    <a:pt x="8207" y="413062"/>
                    <a:pt x="0" y="393248"/>
                    <a:pt x="0" y="372587"/>
                  </a:cubicBezTo>
                  <a:lnTo>
                    <a:pt x="0" y="77902"/>
                  </a:lnTo>
                  <a:cubicBezTo>
                    <a:pt x="0" y="57241"/>
                    <a:pt x="8207" y="37426"/>
                    <a:pt x="22817" y="22817"/>
                  </a:cubicBezTo>
                  <a:cubicBezTo>
                    <a:pt x="37426" y="8207"/>
                    <a:pt x="57241" y="0"/>
                    <a:pt x="77902" y="0"/>
                  </a:cubicBezTo>
                  <a:close/>
                </a:path>
              </a:pathLst>
            </a:custGeom>
            <a:solidFill>
              <a:srgbClr val="FFE9E9"/>
            </a:solidFill>
          </p:spPr>
        </p:sp>
        <p:sp>
          <p:nvSpPr>
            <p:cNvPr name="TextBox 7" id="7"/>
            <p:cNvSpPr txBox="true"/>
            <p:nvPr/>
          </p:nvSpPr>
          <p:spPr>
            <a:xfrm>
              <a:off x="0" y="-333375"/>
              <a:ext cx="1334893" cy="783863"/>
            </a:xfrm>
            <a:prstGeom prst="rect">
              <a:avLst/>
            </a:prstGeom>
          </p:spPr>
          <p:txBody>
            <a:bodyPr anchor="ctr" rtlCol="false" tIns="50800" lIns="50800" bIns="50800" rIns="50800"/>
            <a:lstStyle/>
            <a:p>
              <a:pPr algn="ctr">
                <a:lnSpc>
                  <a:spcPts val="6249"/>
                </a:lnSpc>
              </a:pPr>
            </a:p>
          </p:txBody>
        </p:sp>
      </p:grpSp>
      <p:sp>
        <p:nvSpPr>
          <p:cNvPr name="AutoShape 8" id="8"/>
          <p:cNvSpPr/>
          <p:nvPr/>
        </p:nvSpPr>
        <p:spPr>
          <a:xfrm>
            <a:off x="-495999" y="1922004"/>
            <a:ext cx="10602143" cy="0"/>
          </a:xfrm>
          <a:prstGeom prst="line">
            <a:avLst/>
          </a:prstGeom>
          <a:ln cap="flat" w="28575">
            <a:solidFill>
              <a:srgbClr val="000000"/>
            </a:solidFill>
            <a:prstDash val="solid"/>
            <a:headEnd type="none" len="sm" w="sm"/>
            <a:tailEnd type="none" len="sm" w="sm"/>
          </a:ln>
        </p:spPr>
      </p:sp>
      <p:sp>
        <p:nvSpPr>
          <p:cNvPr name="Freeform 9" id="9"/>
          <p:cNvSpPr/>
          <p:nvPr/>
        </p:nvSpPr>
        <p:spPr>
          <a:xfrm flipH="false" flipV="false" rot="0">
            <a:off x="8820308" y="3558695"/>
            <a:ext cx="8687582" cy="3518471"/>
          </a:xfrm>
          <a:custGeom>
            <a:avLst/>
            <a:gdLst/>
            <a:ahLst/>
            <a:cxnLst/>
            <a:rect r="r" b="b" t="t" l="l"/>
            <a:pathLst>
              <a:path h="3518471" w="8687582">
                <a:moveTo>
                  <a:pt x="0" y="0"/>
                </a:moveTo>
                <a:lnTo>
                  <a:pt x="8687581" y="0"/>
                </a:lnTo>
                <a:lnTo>
                  <a:pt x="8687581" y="3518471"/>
                </a:lnTo>
                <a:lnTo>
                  <a:pt x="0" y="3518471"/>
                </a:lnTo>
                <a:lnTo>
                  <a:pt x="0" y="0"/>
                </a:lnTo>
                <a:close/>
              </a:path>
            </a:pathLst>
          </a:custGeom>
          <a:blipFill>
            <a:blip r:embed="rId2"/>
            <a:stretch>
              <a:fillRect l="0" t="0" r="0" b="0"/>
            </a:stretch>
          </a:blipFill>
        </p:spPr>
      </p:sp>
      <p:sp>
        <p:nvSpPr>
          <p:cNvPr name="TextBox 10" id="10"/>
          <p:cNvSpPr txBox="true"/>
          <p:nvPr/>
        </p:nvSpPr>
        <p:spPr>
          <a:xfrm rot="0">
            <a:off x="1028700" y="814303"/>
            <a:ext cx="12678644" cy="693395"/>
          </a:xfrm>
          <a:prstGeom prst="rect">
            <a:avLst/>
          </a:prstGeom>
        </p:spPr>
        <p:txBody>
          <a:bodyPr anchor="t" rtlCol="false" tIns="0" lIns="0" bIns="0" rIns="0">
            <a:spAutoFit/>
          </a:bodyPr>
          <a:lstStyle/>
          <a:p>
            <a:pPr algn="l">
              <a:lnSpc>
                <a:spcPts val="4800"/>
              </a:lnSpc>
            </a:pPr>
            <a:r>
              <a:rPr lang="en-US" sz="4800" b="true">
                <a:solidFill>
                  <a:srgbClr val="8D0000"/>
                </a:solidFill>
                <a:latin typeface="Poppins Bold"/>
                <a:ea typeface="Poppins Bold"/>
                <a:cs typeface="Poppins Bold"/>
                <a:sym typeface="Poppins Bold"/>
              </a:rPr>
              <a:t>PREDICTION OF CHURN</a:t>
            </a:r>
          </a:p>
        </p:txBody>
      </p:sp>
      <p:sp>
        <p:nvSpPr>
          <p:cNvPr name="TextBox 11" id="11"/>
          <p:cNvSpPr txBox="true"/>
          <p:nvPr/>
        </p:nvSpPr>
        <p:spPr>
          <a:xfrm rot="0">
            <a:off x="9681693" y="2168133"/>
            <a:ext cx="7234824" cy="879525"/>
          </a:xfrm>
          <a:prstGeom prst="rect">
            <a:avLst/>
          </a:prstGeom>
        </p:spPr>
        <p:txBody>
          <a:bodyPr anchor="t" rtlCol="false" tIns="0" lIns="0" bIns="0" rIns="0">
            <a:spAutoFit/>
          </a:bodyPr>
          <a:lstStyle/>
          <a:p>
            <a:pPr algn="ctr">
              <a:lnSpc>
                <a:spcPts val="3499"/>
              </a:lnSpc>
              <a:spcBef>
                <a:spcPct val="0"/>
              </a:spcBef>
            </a:pPr>
            <a:r>
              <a:rPr lang="en-US" b="true" sz="2499">
                <a:solidFill>
                  <a:srgbClr val="FF5757"/>
                </a:solidFill>
                <a:latin typeface="Poppins Bold"/>
                <a:ea typeface="Poppins Bold"/>
                <a:cs typeface="Poppins Bold"/>
                <a:sym typeface="Poppins Bold"/>
              </a:rPr>
              <a:t>Predict</a:t>
            </a:r>
            <a:r>
              <a:rPr lang="en-US" b="true" sz="2499">
                <a:solidFill>
                  <a:srgbClr val="FF5757"/>
                </a:solidFill>
                <a:latin typeface="Poppins Bold"/>
                <a:ea typeface="Poppins Bold"/>
                <a:cs typeface="Poppins Bold"/>
                <a:sym typeface="Poppins Bold"/>
              </a:rPr>
              <a:t>ion using DecisionTreeClassifier training model</a:t>
            </a:r>
          </a:p>
        </p:txBody>
      </p:sp>
      <p:sp>
        <p:nvSpPr>
          <p:cNvPr name="TextBox 12" id="12"/>
          <p:cNvSpPr txBox="true"/>
          <p:nvPr/>
        </p:nvSpPr>
        <p:spPr>
          <a:xfrm rot="0">
            <a:off x="724098" y="2020305"/>
            <a:ext cx="7577607" cy="6633760"/>
          </a:xfrm>
          <a:prstGeom prst="rect">
            <a:avLst/>
          </a:prstGeom>
        </p:spPr>
        <p:txBody>
          <a:bodyPr anchor="t" rtlCol="false" tIns="0" lIns="0" bIns="0" rIns="0">
            <a:spAutoFit/>
          </a:bodyPr>
          <a:lstStyle/>
          <a:p>
            <a:pPr algn="l">
              <a:lnSpc>
                <a:spcPts val="1819"/>
              </a:lnSpc>
            </a:pPr>
            <a:r>
              <a:rPr lang="en-US" sz="1299" b="true">
                <a:solidFill>
                  <a:srgbClr val="000000"/>
                </a:solidFill>
                <a:latin typeface="Poppins Bold"/>
                <a:ea typeface="Poppins Bold"/>
                <a:cs typeface="Poppins Bold"/>
                <a:sym typeface="Poppins Bold"/>
              </a:rPr>
              <a:t>Class 0 (Majority Class):</a:t>
            </a:r>
          </a:p>
          <a:p>
            <a:pPr algn="l">
              <a:lnSpc>
                <a:spcPts val="1819"/>
              </a:lnSpc>
            </a:pPr>
            <a:r>
              <a:rPr lang="en-US" sz="1299">
                <a:solidFill>
                  <a:srgbClr val="000000"/>
                </a:solidFill>
                <a:latin typeface="Poppins"/>
                <a:ea typeface="Poppins"/>
                <a:cs typeface="Poppins"/>
                <a:sym typeface="Poppins"/>
              </a:rPr>
              <a:t>•Precision: 0.94 – Out of all predicted class 0, 94% were correct.</a:t>
            </a:r>
          </a:p>
          <a:p>
            <a:pPr algn="l">
              <a:lnSpc>
                <a:spcPts val="1819"/>
              </a:lnSpc>
            </a:pPr>
            <a:r>
              <a:rPr lang="en-US" sz="1299">
                <a:solidFill>
                  <a:srgbClr val="000000"/>
                </a:solidFill>
                <a:latin typeface="Poppins"/>
                <a:ea typeface="Poppins"/>
                <a:cs typeface="Poppins"/>
                <a:sym typeface="Poppins"/>
              </a:rPr>
              <a:t>•Recall: 0.99 – Out of all actual class 0, 99% were correctly classified.</a:t>
            </a:r>
          </a:p>
          <a:p>
            <a:pPr algn="l">
              <a:lnSpc>
                <a:spcPts val="1819"/>
              </a:lnSpc>
            </a:pPr>
            <a:r>
              <a:rPr lang="en-US" sz="1299">
                <a:solidFill>
                  <a:srgbClr val="000000"/>
                </a:solidFill>
                <a:latin typeface="Poppins"/>
                <a:ea typeface="Poppins"/>
                <a:cs typeface="Poppins"/>
                <a:sym typeface="Poppins"/>
              </a:rPr>
              <a:t>•F1-score: 0.96 – The harmonic mean of precision and recall, showing excellent overall performance for class 0.</a:t>
            </a:r>
          </a:p>
          <a:p>
            <a:pPr algn="l">
              <a:lnSpc>
                <a:spcPts val="1819"/>
              </a:lnSpc>
            </a:pPr>
            <a:r>
              <a:rPr lang="en-US" sz="1299">
                <a:solidFill>
                  <a:srgbClr val="000000"/>
                </a:solidFill>
                <a:latin typeface="Poppins"/>
                <a:ea typeface="Poppins"/>
                <a:cs typeface="Poppins"/>
                <a:sym typeface="Poppins"/>
              </a:rPr>
              <a:t>•Support: 340 – There were 340 instances of class 0.</a:t>
            </a:r>
          </a:p>
          <a:p>
            <a:pPr algn="l">
              <a:lnSpc>
                <a:spcPts val="1819"/>
              </a:lnSpc>
            </a:pPr>
          </a:p>
          <a:p>
            <a:pPr algn="l">
              <a:lnSpc>
                <a:spcPts val="1819"/>
              </a:lnSpc>
            </a:pPr>
            <a:r>
              <a:rPr lang="en-US" sz="1299" b="true">
                <a:solidFill>
                  <a:srgbClr val="000000"/>
                </a:solidFill>
                <a:latin typeface="Poppins Bold"/>
                <a:ea typeface="Poppins Bold"/>
                <a:cs typeface="Poppins Bold"/>
                <a:sym typeface="Poppins Bold"/>
              </a:rPr>
              <a:t>Class 1 (Minority Class):</a:t>
            </a:r>
          </a:p>
          <a:p>
            <a:pPr algn="l">
              <a:lnSpc>
                <a:spcPts val="1819"/>
              </a:lnSpc>
            </a:pPr>
            <a:r>
              <a:rPr lang="en-US" sz="1299">
                <a:solidFill>
                  <a:srgbClr val="000000"/>
                </a:solidFill>
                <a:latin typeface="Poppins"/>
                <a:ea typeface="Poppins"/>
                <a:cs typeface="Poppins"/>
                <a:sym typeface="Poppins"/>
              </a:rPr>
              <a:t>•Precision: 0.90 – Out of all predicted class 1, 90% were correct.</a:t>
            </a:r>
          </a:p>
          <a:p>
            <a:pPr algn="l">
              <a:lnSpc>
                <a:spcPts val="1819"/>
              </a:lnSpc>
            </a:pPr>
            <a:r>
              <a:rPr lang="en-US" sz="1299">
                <a:solidFill>
                  <a:srgbClr val="000000"/>
                </a:solidFill>
                <a:latin typeface="Poppins"/>
                <a:ea typeface="Poppins"/>
                <a:cs typeface="Poppins"/>
                <a:sym typeface="Poppins"/>
              </a:rPr>
              <a:t>•Recall: 0.67 – Out of all actual class 1, only 67% were correctly classified, indicating the model is missing many of the actual class 1 instances.</a:t>
            </a:r>
          </a:p>
          <a:p>
            <a:pPr algn="l">
              <a:lnSpc>
                <a:spcPts val="1819"/>
              </a:lnSpc>
            </a:pPr>
            <a:r>
              <a:rPr lang="en-US" sz="1299">
                <a:solidFill>
                  <a:srgbClr val="000000"/>
                </a:solidFill>
                <a:latin typeface="Poppins"/>
                <a:ea typeface="Poppins"/>
                <a:cs typeface="Poppins"/>
                <a:sym typeface="Poppins"/>
              </a:rPr>
              <a:t>•F1-score: 0.77 – A lower score compared to class 0, showing the classifier struggles with class 1.</a:t>
            </a:r>
          </a:p>
          <a:p>
            <a:pPr algn="l">
              <a:lnSpc>
                <a:spcPts val="1819"/>
              </a:lnSpc>
            </a:pPr>
            <a:r>
              <a:rPr lang="en-US" sz="1299">
                <a:solidFill>
                  <a:srgbClr val="000000"/>
                </a:solidFill>
                <a:latin typeface="Poppins"/>
                <a:ea typeface="Poppins"/>
                <a:cs typeface="Poppins"/>
                <a:sym typeface="Poppins"/>
              </a:rPr>
              <a:t>•Support: 70 – There were 70 instances of class 1.</a:t>
            </a:r>
          </a:p>
          <a:p>
            <a:pPr algn="l">
              <a:lnSpc>
                <a:spcPts val="1819"/>
              </a:lnSpc>
            </a:pPr>
          </a:p>
          <a:p>
            <a:pPr algn="l">
              <a:lnSpc>
                <a:spcPts val="1819"/>
              </a:lnSpc>
            </a:pPr>
            <a:r>
              <a:rPr lang="en-US" sz="1299" b="true">
                <a:solidFill>
                  <a:srgbClr val="000000"/>
                </a:solidFill>
                <a:latin typeface="Poppins Bold"/>
                <a:ea typeface="Poppins Bold"/>
                <a:cs typeface="Poppins Bold"/>
                <a:sym typeface="Poppins Bold"/>
              </a:rPr>
              <a:t>Overall :</a:t>
            </a:r>
          </a:p>
          <a:p>
            <a:pPr algn="l">
              <a:lnSpc>
                <a:spcPts val="1819"/>
              </a:lnSpc>
            </a:pPr>
            <a:r>
              <a:rPr lang="en-US" sz="1299">
                <a:solidFill>
                  <a:srgbClr val="000000"/>
                </a:solidFill>
                <a:latin typeface="Poppins"/>
                <a:ea typeface="Poppins"/>
                <a:cs typeface="Poppins"/>
                <a:sym typeface="Poppins"/>
              </a:rPr>
              <a:t>•Accuracy: 0.93 – The model correctly classified 93% of the total instances, a good result overall.</a:t>
            </a:r>
          </a:p>
          <a:p>
            <a:pPr algn="l">
              <a:lnSpc>
                <a:spcPts val="1819"/>
              </a:lnSpc>
            </a:pPr>
            <a:r>
              <a:rPr lang="en-US" sz="1299">
                <a:solidFill>
                  <a:srgbClr val="000000"/>
                </a:solidFill>
                <a:latin typeface="Poppins"/>
                <a:ea typeface="Poppins"/>
                <a:cs typeface="Poppins"/>
                <a:sym typeface="Poppins"/>
              </a:rPr>
              <a:t>•Macro Average:</a:t>
            </a:r>
          </a:p>
          <a:p>
            <a:pPr algn="l">
              <a:lnSpc>
                <a:spcPts val="1819"/>
              </a:lnSpc>
            </a:pPr>
            <a:r>
              <a:rPr lang="en-US" sz="1299">
                <a:solidFill>
                  <a:srgbClr val="000000"/>
                </a:solidFill>
                <a:latin typeface="Poppins"/>
                <a:ea typeface="Poppins"/>
                <a:cs typeface="Poppins"/>
                <a:sym typeface="Poppins"/>
              </a:rPr>
              <a:t>•Precision: 0.92 – An unweighted average precision score.</a:t>
            </a:r>
          </a:p>
          <a:p>
            <a:pPr algn="l">
              <a:lnSpc>
                <a:spcPts val="1819"/>
              </a:lnSpc>
            </a:pPr>
            <a:r>
              <a:rPr lang="en-US" sz="1299">
                <a:solidFill>
                  <a:srgbClr val="000000"/>
                </a:solidFill>
                <a:latin typeface="Poppins"/>
                <a:ea typeface="Poppins"/>
                <a:cs typeface="Poppins"/>
                <a:sym typeface="Poppins"/>
              </a:rPr>
              <a:t>•Recall: 0.83 – The macro recall is lower, mainly due to the poor recall for class 1.</a:t>
            </a:r>
          </a:p>
          <a:p>
            <a:pPr algn="l">
              <a:lnSpc>
                <a:spcPts val="1819"/>
              </a:lnSpc>
              <a:spcBef>
                <a:spcPct val="0"/>
              </a:spcBef>
            </a:pPr>
            <a:r>
              <a:rPr lang="en-US" sz="1299">
                <a:solidFill>
                  <a:srgbClr val="000000"/>
                </a:solidFill>
                <a:latin typeface="Poppins"/>
                <a:ea typeface="Poppins"/>
                <a:cs typeface="Poppins"/>
                <a:sym typeface="Poppins"/>
              </a:rPr>
              <a:t>•F1-score: 0.87 – Reflects the </a:t>
            </a:r>
            <a:r>
              <a:rPr lang="en-US" sz="1299">
                <a:solidFill>
                  <a:srgbClr val="000000"/>
                </a:solidFill>
                <a:latin typeface="Poppins"/>
                <a:ea typeface="Poppins"/>
                <a:cs typeface="Poppins"/>
                <a:sym typeface="Poppins"/>
              </a:rPr>
              <a:t>imbalanced performance between the two classes.</a:t>
            </a:r>
          </a:p>
          <a:p>
            <a:pPr algn="l">
              <a:lnSpc>
                <a:spcPts val="1819"/>
              </a:lnSpc>
              <a:spcBef>
                <a:spcPct val="0"/>
              </a:spcBef>
            </a:pPr>
            <a:r>
              <a:rPr lang="en-US" sz="1299">
                <a:solidFill>
                  <a:srgbClr val="000000"/>
                </a:solidFill>
                <a:latin typeface="Poppins"/>
                <a:ea typeface="Poppins"/>
                <a:cs typeface="Poppins"/>
                <a:sym typeface="Poppins"/>
              </a:rPr>
              <a:t>•Weighted Average:</a:t>
            </a:r>
          </a:p>
          <a:p>
            <a:pPr algn="l">
              <a:lnSpc>
                <a:spcPts val="1819"/>
              </a:lnSpc>
              <a:spcBef>
                <a:spcPct val="0"/>
              </a:spcBef>
            </a:pPr>
            <a:r>
              <a:rPr lang="en-US" sz="1299">
                <a:solidFill>
                  <a:srgbClr val="000000"/>
                </a:solidFill>
                <a:latin typeface="Poppins"/>
                <a:ea typeface="Poppins"/>
                <a:cs typeface="Poppins"/>
                <a:sym typeface="Poppins"/>
              </a:rPr>
              <a:t>•Precision: 0.93 – Accounts for the number of instances in each class.</a:t>
            </a:r>
          </a:p>
          <a:p>
            <a:pPr algn="l">
              <a:lnSpc>
                <a:spcPts val="1819"/>
              </a:lnSpc>
              <a:spcBef>
                <a:spcPct val="0"/>
              </a:spcBef>
            </a:pPr>
            <a:r>
              <a:rPr lang="en-US" sz="1299">
                <a:solidFill>
                  <a:srgbClr val="000000"/>
                </a:solidFill>
                <a:latin typeface="Poppins"/>
                <a:ea typeface="Poppins"/>
                <a:cs typeface="Poppins"/>
                <a:sym typeface="Poppins"/>
              </a:rPr>
              <a:t>•Recall: 0.93 – Since class 0 has more instances, its high recall boosts the weighted average.</a:t>
            </a:r>
          </a:p>
          <a:p>
            <a:pPr algn="l">
              <a:lnSpc>
                <a:spcPts val="1819"/>
              </a:lnSpc>
              <a:spcBef>
                <a:spcPct val="0"/>
              </a:spcBef>
            </a:pPr>
            <a:r>
              <a:rPr lang="en-US" sz="1299">
                <a:solidFill>
                  <a:srgbClr val="000000"/>
                </a:solidFill>
                <a:latin typeface="Poppins"/>
                <a:ea typeface="Poppins"/>
                <a:cs typeface="Poppins"/>
                <a:sym typeface="Poppins"/>
              </a:rPr>
              <a:t>•F1-score: 0.93 – Shows overall good performance but still reflects the imbalance.</a:t>
            </a:r>
          </a:p>
          <a:p>
            <a:pPr algn="l">
              <a:lnSpc>
                <a:spcPts val="1819"/>
              </a:lnSpc>
              <a:spcBef>
                <a:spcPct val="0"/>
              </a:spcBef>
            </a:pPr>
            <a:r>
              <a:rPr lang="en-US" sz="1299">
                <a:solidFill>
                  <a:srgbClr val="000000"/>
                </a:solidFill>
                <a:latin typeface="Poppins"/>
                <a:ea typeface="Poppins"/>
                <a:cs typeface="Poppins"/>
                <a:sym typeface="Poppins"/>
              </a:rPr>
              <a:t>------------------------------------------------------</a:t>
            </a:r>
          </a:p>
          <a:p>
            <a:pPr algn="l">
              <a:lnSpc>
                <a:spcPts val="1819"/>
              </a:lnSpc>
              <a:spcBef>
                <a:spcPct val="0"/>
              </a:spcBef>
            </a:pPr>
          </a:p>
        </p:txBody>
      </p:sp>
      <p:sp>
        <p:nvSpPr>
          <p:cNvPr name="TextBox 13" id="13"/>
          <p:cNvSpPr txBox="true"/>
          <p:nvPr/>
        </p:nvSpPr>
        <p:spPr>
          <a:xfrm rot="0">
            <a:off x="724098" y="8728555"/>
            <a:ext cx="16192419" cy="1498114"/>
          </a:xfrm>
          <a:prstGeom prst="rect">
            <a:avLst/>
          </a:prstGeom>
        </p:spPr>
        <p:txBody>
          <a:bodyPr anchor="t" rtlCol="false" tIns="0" lIns="0" bIns="0" rIns="0">
            <a:spAutoFit/>
          </a:bodyPr>
          <a:lstStyle/>
          <a:p>
            <a:pPr algn="just">
              <a:lnSpc>
                <a:spcPts val="1960"/>
              </a:lnSpc>
              <a:spcBef>
                <a:spcPct val="0"/>
              </a:spcBef>
            </a:pPr>
            <a:r>
              <a:rPr lang="en-US" b="true" sz="1400">
                <a:solidFill>
                  <a:srgbClr val="000000"/>
                </a:solidFill>
                <a:latin typeface="Poppins Bold"/>
                <a:ea typeface="Poppins Bold"/>
                <a:cs typeface="Poppins Bold"/>
                <a:sym typeface="Poppins Bold"/>
              </a:rPr>
              <a:t>=&gt; Class 0: The model performs very well on the major</a:t>
            </a:r>
            <a:r>
              <a:rPr lang="en-US" b="true" sz="1400">
                <a:solidFill>
                  <a:srgbClr val="000000"/>
                </a:solidFill>
                <a:latin typeface="Poppins Bold"/>
                <a:ea typeface="Poppins Bold"/>
                <a:cs typeface="Poppins Bold"/>
                <a:sym typeface="Poppins Bold"/>
              </a:rPr>
              <a:t>ity class, with high precision (0.94) and recall (0.99), leading to a strong F1-score of 0.96.</a:t>
            </a:r>
          </a:p>
          <a:p>
            <a:pPr algn="just">
              <a:lnSpc>
                <a:spcPts val="1960"/>
              </a:lnSpc>
              <a:spcBef>
                <a:spcPct val="0"/>
              </a:spcBef>
            </a:pPr>
            <a:r>
              <a:rPr lang="en-US" b="true" sz="1400">
                <a:solidFill>
                  <a:srgbClr val="000000"/>
                </a:solidFill>
                <a:latin typeface="Poppins Bold"/>
                <a:ea typeface="Poppins Bold"/>
                <a:cs typeface="Poppins Bold"/>
                <a:sym typeface="Poppins Bold"/>
              </a:rPr>
              <a:t>=&gt; Class 1: The model performs well in terms of precision (0.90), but its recall for class 1 is relatively low (0.67), indicating it struggles to identify all instances of class 1. This is also reflected in the lower F1-score (0.77).</a:t>
            </a:r>
          </a:p>
          <a:p>
            <a:pPr algn="just">
              <a:lnSpc>
                <a:spcPts val="1960"/>
              </a:lnSpc>
              <a:spcBef>
                <a:spcPct val="0"/>
              </a:spcBef>
            </a:pPr>
            <a:r>
              <a:rPr lang="en-US" b="true" sz="1400">
                <a:solidFill>
                  <a:srgbClr val="000000"/>
                </a:solidFill>
                <a:latin typeface="Poppins Bold"/>
                <a:ea typeface="Poppins Bold"/>
                <a:cs typeface="Poppins Bold"/>
                <a:sym typeface="Poppins Bold"/>
              </a:rPr>
              <a:t>=&gt; Overall: The accuracy is high at 0.93, but the recall for class 1 (0.67) indicates a challenge in correctly identifying minority class instances. The macro average is lower than the weighted average due to this imbalance.</a:t>
            </a:r>
          </a:p>
          <a:p>
            <a:pPr algn="just">
              <a:lnSpc>
                <a:spcPts val="1960"/>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3503507">
            <a:off x="5380001" y="9454402"/>
            <a:ext cx="5068421" cy="1710448"/>
            <a:chOff x="0" y="0"/>
            <a:chExt cx="1334893" cy="450488"/>
          </a:xfrm>
        </p:grpSpPr>
        <p:sp>
          <p:nvSpPr>
            <p:cNvPr name="Freeform 3" id="3"/>
            <p:cNvSpPr/>
            <p:nvPr/>
          </p:nvSpPr>
          <p:spPr>
            <a:xfrm flipH="false" flipV="false" rot="0">
              <a:off x="0" y="0"/>
              <a:ext cx="1334893" cy="450488"/>
            </a:xfrm>
            <a:custGeom>
              <a:avLst/>
              <a:gdLst/>
              <a:ahLst/>
              <a:cxnLst/>
              <a:rect r="r" b="b" t="t" l="l"/>
              <a:pathLst>
                <a:path h="450488" w="1334893">
                  <a:moveTo>
                    <a:pt x="77902" y="0"/>
                  </a:moveTo>
                  <a:lnTo>
                    <a:pt x="1256991" y="0"/>
                  </a:lnTo>
                  <a:cubicBezTo>
                    <a:pt x="1277652" y="0"/>
                    <a:pt x="1297467" y="8207"/>
                    <a:pt x="1312076" y="22817"/>
                  </a:cubicBezTo>
                  <a:cubicBezTo>
                    <a:pt x="1326685" y="37426"/>
                    <a:pt x="1334893" y="57241"/>
                    <a:pt x="1334893" y="77902"/>
                  </a:cubicBezTo>
                  <a:lnTo>
                    <a:pt x="1334893" y="372587"/>
                  </a:lnTo>
                  <a:cubicBezTo>
                    <a:pt x="1334893" y="393248"/>
                    <a:pt x="1326685" y="413062"/>
                    <a:pt x="1312076" y="427672"/>
                  </a:cubicBezTo>
                  <a:cubicBezTo>
                    <a:pt x="1297467" y="442281"/>
                    <a:pt x="1277652" y="450488"/>
                    <a:pt x="1256991" y="450488"/>
                  </a:cubicBezTo>
                  <a:lnTo>
                    <a:pt x="77902" y="450488"/>
                  </a:lnTo>
                  <a:cubicBezTo>
                    <a:pt x="57241" y="450488"/>
                    <a:pt x="37426" y="442281"/>
                    <a:pt x="22817" y="427672"/>
                  </a:cubicBezTo>
                  <a:cubicBezTo>
                    <a:pt x="8207" y="413062"/>
                    <a:pt x="0" y="393248"/>
                    <a:pt x="0" y="372587"/>
                  </a:cubicBezTo>
                  <a:lnTo>
                    <a:pt x="0" y="77902"/>
                  </a:lnTo>
                  <a:cubicBezTo>
                    <a:pt x="0" y="57241"/>
                    <a:pt x="8207" y="37426"/>
                    <a:pt x="22817" y="22817"/>
                  </a:cubicBezTo>
                  <a:cubicBezTo>
                    <a:pt x="37426" y="8207"/>
                    <a:pt x="57241" y="0"/>
                    <a:pt x="77902" y="0"/>
                  </a:cubicBezTo>
                  <a:close/>
                </a:path>
              </a:pathLst>
            </a:custGeom>
            <a:solidFill>
              <a:srgbClr val="FFE9E9"/>
            </a:solidFill>
          </p:spPr>
        </p:sp>
        <p:sp>
          <p:nvSpPr>
            <p:cNvPr name="TextBox 4" id="4"/>
            <p:cNvSpPr txBox="true"/>
            <p:nvPr/>
          </p:nvSpPr>
          <p:spPr>
            <a:xfrm>
              <a:off x="0" y="-333375"/>
              <a:ext cx="1334893" cy="783863"/>
            </a:xfrm>
            <a:prstGeom prst="rect">
              <a:avLst/>
            </a:prstGeom>
          </p:spPr>
          <p:txBody>
            <a:bodyPr anchor="ctr" rtlCol="false" tIns="50800" lIns="50800" bIns="50800" rIns="50800"/>
            <a:lstStyle/>
            <a:p>
              <a:pPr algn="ctr">
                <a:lnSpc>
                  <a:spcPts val="6249"/>
                </a:lnSpc>
              </a:pPr>
            </a:p>
          </p:txBody>
        </p:sp>
      </p:grpSp>
      <p:grpSp>
        <p:nvGrpSpPr>
          <p:cNvPr name="Group 5" id="5"/>
          <p:cNvGrpSpPr/>
          <p:nvPr/>
        </p:nvGrpSpPr>
        <p:grpSpPr>
          <a:xfrm rot="-3503507">
            <a:off x="551042" y="-1554003"/>
            <a:ext cx="5068421" cy="1710448"/>
            <a:chOff x="0" y="0"/>
            <a:chExt cx="1334893" cy="450488"/>
          </a:xfrm>
        </p:grpSpPr>
        <p:sp>
          <p:nvSpPr>
            <p:cNvPr name="Freeform 6" id="6"/>
            <p:cNvSpPr/>
            <p:nvPr/>
          </p:nvSpPr>
          <p:spPr>
            <a:xfrm flipH="false" flipV="false" rot="0">
              <a:off x="0" y="0"/>
              <a:ext cx="1334893" cy="450488"/>
            </a:xfrm>
            <a:custGeom>
              <a:avLst/>
              <a:gdLst/>
              <a:ahLst/>
              <a:cxnLst/>
              <a:rect r="r" b="b" t="t" l="l"/>
              <a:pathLst>
                <a:path h="450488" w="1334893">
                  <a:moveTo>
                    <a:pt x="77902" y="0"/>
                  </a:moveTo>
                  <a:lnTo>
                    <a:pt x="1256991" y="0"/>
                  </a:lnTo>
                  <a:cubicBezTo>
                    <a:pt x="1277652" y="0"/>
                    <a:pt x="1297467" y="8207"/>
                    <a:pt x="1312076" y="22817"/>
                  </a:cubicBezTo>
                  <a:cubicBezTo>
                    <a:pt x="1326685" y="37426"/>
                    <a:pt x="1334893" y="57241"/>
                    <a:pt x="1334893" y="77902"/>
                  </a:cubicBezTo>
                  <a:lnTo>
                    <a:pt x="1334893" y="372587"/>
                  </a:lnTo>
                  <a:cubicBezTo>
                    <a:pt x="1334893" y="393248"/>
                    <a:pt x="1326685" y="413062"/>
                    <a:pt x="1312076" y="427672"/>
                  </a:cubicBezTo>
                  <a:cubicBezTo>
                    <a:pt x="1297467" y="442281"/>
                    <a:pt x="1277652" y="450488"/>
                    <a:pt x="1256991" y="450488"/>
                  </a:cubicBezTo>
                  <a:lnTo>
                    <a:pt x="77902" y="450488"/>
                  </a:lnTo>
                  <a:cubicBezTo>
                    <a:pt x="57241" y="450488"/>
                    <a:pt x="37426" y="442281"/>
                    <a:pt x="22817" y="427672"/>
                  </a:cubicBezTo>
                  <a:cubicBezTo>
                    <a:pt x="8207" y="413062"/>
                    <a:pt x="0" y="393248"/>
                    <a:pt x="0" y="372587"/>
                  </a:cubicBezTo>
                  <a:lnTo>
                    <a:pt x="0" y="77902"/>
                  </a:lnTo>
                  <a:cubicBezTo>
                    <a:pt x="0" y="57241"/>
                    <a:pt x="8207" y="37426"/>
                    <a:pt x="22817" y="22817"/>
                  </a:cubicBezTo>
                  <a:cubicBezTo>
                    <a:pt x="37426" y="8207"/>
                    <a:pt x="57241" y="0"/>
                    <a:pt x="77902" y="0"/>
                  </a:cubicBezTo>
                  <a:close/>
                </a:path>
              </a:pathLst>
            </a:custGeom>
            <a:solidFill>
              <a:srgbClr val="FFE9E9"/>
            </a:solidFill>
          </p:spPr>
        </p:sp>
        <p:sp>
          <p:nvSpPr>
            <p:cNvPr name="TextBox 7" id="7"/>
            <p:cNvSpPr txBox="true"/>
            <p:nvPr/>
          </p:nvSpPr>
          <p:spPr>
            <a:xfrm>
              <a:off x="0" y="-333375"/>
              <a:ext cx="1334893" cy="783863"/>
            </a:xfrm>
            <a:prstGeom prst="rect">
              <a:avLst/>
            </a:prstGeom>
          </p:spPr>
          <p:txBody>
            <a:bodyPr anchor="ctr" rtlCol="false" tIns="50800" lIns="50800" bIns="50800" rIns="50800"/>
            <a:lstStyle/>
            <a:p>
              <a:pPr algn="ctr">
                <a:lnSpc>
                  <a:spcPts val="6249"/>
                </a:lnSpc>
              </a:pPr>
            </a:p>
          </p:txBody>
        </p:sp>
      </p:grpSp>
      <p:sp>
        <p:nvSpPr>
          <p:cNvPr name="AutoShape 8" id="8"/>
          <p:cNvSpPr/>
          <p:nvPr/>
        </p:nvSpPr>
        <p:spPr>
          <a:xfrm>
            <a:off x="-631378" y="1893429"/>
            <a:ext cx="10602143" cy="0"/>
          </a:xfrm>
          <a:prstGeom prst="line">
            <a:avLst/>
          </a:prstGeom>
          <a:ln cap="flat" w="28575">
            <a:solidFill>
              <a:srgbClr val="000000"/>
            </a:solidFill>
            <a:prstDash val="solid"/>
            <a:headEnd type="none" len="sm" w="sm"/>
            <a:tailEnd type="none" len="sm" w="sm"/>
          </a:ln>
        </p:spPr>
      </p:sp>
      <p:sp>
        <p:nvSpPr>
          <p:cNvPr name="TextBox 9" id="9"/>
          <p:cNvSpPr txBox="true"/>
          <p:nvPr/>
        </p:nvSpPr>
        <p:spPr>
          <a:xfrm rot="0">
            <a:off x="1028700" y="814303"/>
            <a:ext cx="12678644" cy="693395"/>
          </a:xfrm>
          <a:prstGeom prst="rect">
            <a:avLst/>
          </a:prstGeom>
        </p:spPr>
        <p:txBody>
          <a:bodyPr anchor="t" rtlCol="false" tIns="0" lIns="0" bIns="0" rIns="0">
            <a:spAutoFit/>
          </a:bodyPr>
          <a:lstStyle/>
          <a:p>
            <a:pPr algn="l">
              <a:lnSpc>
                <a:spcPts val="4800"/>
              </a:lnSpc>
            </a:pPr>
            <a:r>
              <a:rPr lang="en-US" sz="4800" b="true">
                <a:solidFill>
                  <a:srgbClr val="8D0000"/>
                </a:solidFill>
                <a:latin typeface="Poppins Bold"/>
                <a:ea typeface="Poppins Bold"/>
                <a:cs typeface="Poppins Bold"/>
                <a:sym typeface="Poppins Bold"/>
              </a:rPr>
              <a:t>PREDICTION OF CHURN</a:t>
            </a:r>
          </a:p>
        </p:txBody>
      </p:sp>
      <p:sp>
        <p:nvSpPr>
          <p:cNvPr name="TextBox 10" id="10"/>
          <p:cNvSpPr txBox="true"/>
          <p:nvPr/>
        </p:nvSpPr>
        <p:spPr>
          <a:xfrm rot="0">
            <a:off x="9563908" y="2164891"/>
            <a:ext cx="7031452" cy="996975"/>
          </a:xfrm>
          <a:prstGeom prst="rect">
            <a:avLst/>
          </a:prstGeom>
        </p:spPr>
        <p:txBody>
          <a:bodyPr anchor="t" rtlCol="false" tIns="0" lIns="0" bIns="0" rIns="0">
            <a:spAutoFit/>
          </a:bodyPr>
          <a:lstStyle/>
          <a:p>
            <a:pPr algn="ctr">
              <a:lnSpc>
                <a:spcPts val="3999"/>
              </a:lnSpc>
            </a:pPr>
            <a:r>
              <a:rPr lang="en-US" b="true" sz="2499">
                <a:solidFill>
                  <a:srgbClr val="FF5757"/>
                </a:solidFill>
                <a:latin typeface="Poppins Bold"/>
                <a:ea typeface="Poppins Bold"/>
                <a:cs typeface="Poppins Bold"/>
                <a:sym typeface="Poppins Bold"/>
              </a:rPr>
              <a:t>Prediction using RandomForestClassifier training model</a:t>
            </a:r>
          </a:p>
        </p:txBody>
      </p:sp>
      <p:sp>
        <p:nvSpPr>
          <p:cNvPr name="Freeform 11" id="11"/>
          <p:cNvSpPr/>
          <p:nvPr/>
        </p:nvSpPr>
        <p:spPr>
          <a:xfrm flipH="false" flipV="false" rot="0">
            <a:off x="8938764" y="3484972"/>
            <a:ext cx="8447269" cy="3463380"/>
          </a:xfrm>
          <a:custGeom>
            <a:avLst/>
            <a:gdLst/>
            <a:ahLst/>
            <a:cxnLst/>
            <a:rect r="r" b="b" t="t" l="l"/>
            <a:pathLst>
              <a:path h="3463380" w="8447269">
                <a:moveTo>
                  <a:pt x="0" y="0"/>
                </a:moveTo>
                <a:lnTo>
                  <a:pt x="8447269" y="0"/>
                </a:lnTo>
                <a:lnTo>
                  <a:pt x="8447269" y="3463381"/>
                </a:lnTo>
                <a:lnTo>
                  <a:pt x="0" y="3463381"/>
                </a:lnTo>
                <a:lnTo>
                  <a:pt x="0" y="0"/>
                </a:lnTo>
                <a:close/>
              </a:path>
            </a:pathLst>
          </a:custGeom>
          <a:blipFill>
            <a:blip r:embed="rId2"/>
            <a:stretch>
              <a:fillRect l="0" t="0" r="0" b="0"/>
            </a:stretch>
          </a:blipFill>
        </p:spPr>
      </p:sp>
      <p:sp>
        <p:nvSpPr>
          <p:cNvPr name="TextBox 12" id="12"/>
          <p:cNvSpPr txBox="true"/>
          <p:nvPr/>
        </p:nvSpPr>
        <p:spPr>
          <a:xfrm rot="0">
            <a:off x="724098" y="2010780"/>
            <a:ext cx="7552410" cy="5530989"/>
          </a:xfrm>
          <a:prstGeom prst="rect">
            <a:avLst/>
          </a:prstGeom>
        </p:spPr>
        <p:txBody>
          <a:bodyPr anchor="t" rtlCol="false" tIns="0" lIns="0" bIns="0" rIns="0">
            <a:spAutoFit/>
          </a:bodyPr>
          <a:lstStyle/>
          <a:p>
            <a:pPr algn="l">
              <a:lnSpc>
                <a:spcPts val="2239"/>
              </a:lnSpc>
            </a:pPr>
            <a:r>
              <a:rPr lang="en-US" sz="1599" b="true">
                <a:solidFill>
                  <a:srgbClr val="000000"/>
                </a:solidFill>
                <a:latin typeface="Poppins Bold"/>
                <a:ea typeface="Poppins Bold"/>
                <a:cs typeface="Poppins Bold"/>
                <a:sym typeface="Poppins Bold"/>
              </a:rPr>
              <a:t>Class 0 (Majority Class):</a:t>
            </a:r>
          </a:p>
          <a:p>
            <a:pPr algn="l">
              <a:lnSpc>
                <a:spcPts val="2239"/>
              </a:lnSpc>
            </a:pPr>
            <a:r>
              <a:rPr lang="en-US" sz="1599" b="true">
                <a:solidFill>
                  <a:srgbClr val="000000"/>
                </a:solidFill>
                <a:latin typeface="Poppins Bold"/>
                <a:ea typeface="Poppins Bold"/>
                <a:cs typeface="Poppins Bold"/>
                <a:sym typeface="Poppins Bold"/>
              </a:rPr>
              <a:t>•Precision: 0.95 – Out of all predicted class 0, 95% were correctly classified.</a:t>
            </a:r>
          </a:p>
          <a:p>
            <a:pPr algn="l">
              <a:lnSpc>
                <a:spcPts val="2239"/>
              </a:lnSpc>
            </a:pPr>
            <a:r>
              <a:rPr lang="en-US" sz="1599" b="true">
                <a:solidFill>
                  <a:srgbClr val="000000"/>
                </a:solidFill>
                <a:latin typeface="Poppins Bold"/>
                <a:ea typeface="Poppins Bold"/>
                <a:cs typeface="Poppins Bold"/>
                <a:sym typeface="Poppins Bold"/>
              </a:rPr>
              <a:t>•Recall: 0.95 – Out of all actual class 0, 95% were correctly classified.</a:t>
            </a:r>
          </a:p>
          <a:p>
            <a:pPr algn="l">
              <a:lnSpc>
                <a:spcPts val="2239"/>
              </a:lnSpc>
            </a:pPr>
            <a:r>
              <a:rPr lang="en-US" sz="1599" b="true">
                <a:solidFill>
                  <a:srgbClr val="000000"/>
                </a:solidFill>
                <a:latin typeface="Poppins Bold"/>
                <a:ea typeface="Poppins Bold"/>
                <a:cs typeface="Poppins Bold"/>
                <a:sym typeface="Poppins Bold"/>
              </a:rPr>
              <a:t>•F1-score: 0.95 – The harmonic mean of precision and recall.</a:t>
            </a:r>
          </a:p>
          <a:p>
            <a:pPr algn="l">
              <a:lnSpc>
                <a:spcPts val="2239"/>
              </a:lnSpc>
            </a:pPr>
            <a:r>
              <a:rPr lang="en-US" sz="1599" b="true">
                <a:solidFill>
                  <a:srgbClr val="000000"/>
                </a:solidFill>
                <a:latin typeface="Poppins Bold"/>
                <a:ea typeface="Poppins Bold"/>
                <a:cs typeface="Poppins Bold"/>
                <a:sym typeface="Poppins Bold"/>
              </a:rPr>
              <a:t>•Support: 340 – There were 340 instances of class 0.</a:t>
            </a:r>
          </a:p>
          <a:p>
            <a:pPr algn="l">
              <a:lnSpc>
                <a:spcPts val="2239"/>
              </a:lnSpc>
            </a:pPr>
            <a:r>
              <a:rPr lang="en-US" sz="1599" b="true">
                <a:solidFill>
                  <a:srgbClr val="000000"/>
                </a:solidFill>
                <a:latin typeface="Poppins Bold"/>
                <a:ea typeface="Poppins Bold"/>
                <a:cs typeface="Poppins Bold"/>
                <a:sym typeface="Poppins Bold"/>
              </a:rPr>
              <a:t>•</a:t>
            </a:r>
          </a:p>
          <a:p>
            <a:pPr algn="l">
              <a:lnSpc>
                <a:spcPts val="2239"/>
              </a:lnSpc>
            </a:pPr>
            <a:r>
              <a:rPr lang="en-US" sz="1599" b="true">
                <a:solidFill>
                  <a:srgbClr val="000000"/>
                </a:solidFill>
                <a:latin typeface="Poppins Bold"/>
                <a:ea typeface="Poppins Bold"/>
                <a:cs typeface="Poppins Bold"/>
                <a:sym typeface="Poppins Bold"/>
              </a:rPr>
              <a:t>Class 1 (Minority Class):</a:t>
            </a:r>
          </a:p>
          <a:p>
            <a:pPr algn="l">
              <a:lnSpc>
                <a:spcPts val="2239"/>
              </a:lnSpc>
            </a:pPr>
            <a:r>
              <a:rPr lang="en-US" sz="1599" b="true">
                <a:solidFill>
                  <a:srgbClr val="000000"/>
                </a:solidFill>
                <a:latin typeface="Poppins Bold"/>
                <a:ea typeface="Poppins Bold"/>
                <a:cs typeface="Poppins Bold"/>
                <a:sym typeface="Poppins Bold"/>
              </a:rPr>
              <a:t>•Precision: 0.77 – Out of all predicted class 1, 77% were correct.</a:t>
            </a:r>
          </a:p>
          <a:p>
            <a:pPr algn="l">
              <a:lnSpc>
                <a:spcPts val="2239"/>
              </a:lnSpc>
            </a:pPr>
            <a:r>
              <a:rPr lang="en-US" sz="1599" b="true">
                <a:solidFill>
                  <a:srgbClr val="000000"/>
                </a:solidFill>
                <a:latin typeface="Poppins Bold"/>
                <a:ea typeface="Poppins Bold"/>
                <a:cs typeface="Poppins Bold"/>
                <a:sym typeface="Poppins Bold"/>
              </a:rPr>
              <a:t>•Recall: 0.76 – Out of all actual class 1, 76% were correctly classified.</a:t>
            </a:r>
          </a:p>
          <a:p>
            <a:pPr algn="l">
              <a:lnSpc>
                <a:spcPts val="2239"/>
              </a:lnSpc>
            </a:pPr>
            <a:r>
              <a:rPr lang="en-US" sz="1599" b="true">
                <a:solidFill>
                  <a:srgbClr val="000000"/>
                </a:solidFill>
                <a:latin typeface="Poppins Bold"/>
                <a:ea typeface="Poppins Bold"/>
                <a:cs typeface="Poppins Bold"/>
                <a:sym typeface="Poppins Bold"/>
              </a:rPr>
              <a:t>•F1-score: 0.76 – The harmonic mean of precision and recall.</a:t>
            </a:r>
          </a:p>
          <a:p>
            <a:pPr algn="l">
              <a:lnSpc>
                <a:spcPts val="2239"/>
              </a:lnSpc>
            </a:pPr>
            <a:r>
              <a:rPr lang="en-US" sz="1599" b="true">
                <a:solidFill>
                  <a:srgbClr val="000000"/>
                </a:solidFill>
                <a:latin typeface="Poppins Bold"/>
                <a:ea typeface="Poppins Bold"/>
                <a:cs typeface="Poppins Bold"/>
                <a:sym typeface="Poppins Bold"/>
              </a:rPr>
              <a:t>•Support: 70 – There were 70 instances of class 1.</a:t>
            </a:r>
          </a:p>
          <a:p>
            <a:pPr algn="l">
              <a:lnSpc>
                <a:spcPts val="2239"/>
              </a:lnSpc>
            </a:pPr>
            <a:r>
              <a:rPr lang="en-US" sz="1599" b="true">
                <a:solidFill>
                  <a:srgbClr val="000000"/>
                </a:solidFill>
                <a:latin typeface="Poppins Bold"/>
                <a:ea typeface="Poppins Bold"/>
                <a:cs typeface="Poppins Bold"/>
                <a:sym typeface="Poppins Bold"/>
              </a:rPr>
              <a:t>•</a:t>
            </a:r>
          </a:p>
          <a:p>
            <a:pPr algn="l">
              <a:lnSpc>
                <a:spcPts val="2239"/>
              </a:lnSpc>
            </a:pPr>
            <a:r>
              <a:rPr lang="en-US" sz="1599" b="true">
                <a:solidFill>
                  <a:srgbClr val="000000"/>
                </a:solidFill>
                <a:latin typeface="Poppins Bold"/>
                <a:ea typeface="Poppins Bold"/>
                <a:cs typeface="Poppins Bold"/>
                <a:sym typeface="Poppins Bold"/>
              </a:rPr>
              <a:t>•Accuracy: 0.92 – The model correctly classified 92% of the total instances.</a:t>
            </a:r>
          </a:p>
          <a:p>
            <a:pPr algn="l">
              <a:lnSpc>
                <a:spcPts val="2239"/>
              </a:lnSpc>
              <a:spcBef>
                <a:spcPct val="0"/>
              </a:spcBef>
            </a:pPr>
            <a:r>
              <a:rPr lang="en-US" b="true" sz="1599">
                <a:solidFill>
                  <a:srgbClr val="000000"/>
                </a:solidFill>
                <a:latin typeface="Poppins Bold"/>
                <a:ea typeface="Poppins Bold"/>
                <a:cs typeface="Poppins Bold"/>
                <a:sym typeface="Poppins Bold"/>
              </a:rPr>
              <a:t>•Macro Average: 0.86 for precision, recall, and F1-score – This is the unwe</a:t>
            </a:r>
            <a:r>
              <a:rPr lang="en-US" b="true" sz="1599">
                <a:solidFill>
                  <a:srgbClr val="000000"/>
                </a:solidFill>
                <a:latin typeface="Poppins Bold"/>
                <a:ea typeface="Poppins Bold"/>
                <a:cs typeface="Poppins Bold"/>
                <a:sym typeface="Poppins Bold"/>
              </a:rPr>
              <a:t>ighted average, treating both classes equally.</a:t>
            </a:r>
          </a:p>
          <a:p>
            <a:pPr algn="l">
              <a:lnSpc>
                <a:spcPts val="2239"/>
              </a:lnSpc>
              <a:spcBef>
                <a:spcPct val="0"/>
              </a:spcBef>
            </a:pPr>
            <a:r>
              <a:rPr lang="en-US" b="true" sz="1599">
                <a:solidFill>
                  <a:srgbClr val="000000"/>
                </a:solidFill>
                <a:latin typeface="Poppins Bold"/>
                <a:ea typeface="Poppins Bold"/>
                <a:cs typeface="Poppins Bold"/>
                <a:sym typeface="Poppins Bold"/>
              </a:rPr>
              <a:t>•Weighted Average: 0.92 – This average accounts for the number of instances in each class (class 0 has much more support than class 1).</a:t>
            </a:r>
          </a:p>
          <a:p>
            <a:pPr algn="l">
              <a:lnSpc>
                <a:spcPts val="2239"/>
              </a:lnSpc>
              <a:spcBef>
                <a:spcPct val="0"/>
              </a:spcBef>
            </a:pPr>
            <a:r>
              <a:rPr lang="en-US" b="true" sz="1599">
                <a:solidFill>
                  <a:srgbClr val="000000"/>
                </a:solidFill>
                <a:latin typeface="Poppins Bold"/>
                <a:ea typeface="Poppins Bold"/>
                <a:cs typeface="Poppins Bold"/>
                <a:sym typeface="Poppins Bold"/>
              </a:rPr>
              <a:t>----------------------------------------------</a:t>
            </a:r>
          </a:p>
        </p:txBody>
      </p:sp>
      <p:sp>
        <p:nvSpPr>
          <p:cNvPr name="TextBox 13" id="13"/>
          <p:cNvSpPr txBox="true"/>
          <p:nvPr/>
        </p:nvSpPr>
        <p:spPr>
          <a:xfrm rot="0">
            <a:off x="842555" y="7655506"/>
            <a:ext cx="16192419" cy="1664186"/>
          </a:xfrm>
          <a:prstGeom prst="rect">
            <a:avLst/>
          </a:prstGeom>
        </p:spPr>
        <p:txBody>
          <a:bodyPr anchor="t" rtlCol="false" tIns="0" lIns="0" bIns="0" rIns="0">
            <a:spAutoFit/>
          </a:bodyPr>
          <a:lstStyle/>
          <a:p>
            <a:pPr algn="just">
              <a:lnSpc>
                <a:spcPts val="2239"/>
              </a:lnSpc>
              <a:spcBef>
                <a:spcPct val="0"/>
              </a:spcBef>
            </a:pPr>
            <a:r>
              <a:rPr lang="en-US" b="true" sz="1599">
                <a:solidFill>
                  <a:srgbClr val="000000"/>
                </a:solidFill>
                <a:latin typeface="Poppins Bold"/>
                <a:ea typeface="Poppins Bold"/>
                <a:cs typeface="Poppins Bold"/>
                <a:sym typeface="Poppins Bold"/>
              </a:rPr>
              <a:t>The model performs better on the major</a:t>
            </a:r>
            <a:r>
              <a:rPr lang="en-US" b="true" sz="1599">
                <a:solidFill>
                  <a:srgbClr val="000000"/>
                </a:solidFill>
                <a:latin typeface="Poppins Bold"/>
                <a:ea typeface="Poppins Bold"/>
                <a:cs typeface="Poppins Bold"/>
                <a:sym typeface="Poppins Bold"/>
              </a:rPr>
              <a:t>ity class (class 0) with high precision, recall, and F1-score.</a:t>
            </a:r>
          </a:p>
          <a:p>
            <a:pPr algn="just">
              <a:lnSpc>
                <a:spcPts val="2239"/>
              </a:lnSpc>
              <a:spcBef>
                <a:spcPct val="0"/>
              </a:spcBef>
            </a:pPr>
            <a:r>
              <a:rPr lang="en-US" b="true" sz="1599">
                <a:solidFill>
                  <a:srgbClr val="000000"/>
                </a:solidFill>
                <a:latin typeface="Poppins Bold"/>
                <a:ea typeface="Poppins Bold"/>
                <a:cs typeface="Poppins Bold"/>
                <a:sym typeface="Poppins Bold"/>
              </a:rPr>
              <a:t>For the minority class (class 1), performance is lower, particularly in precision (0.77) and recall (0.76), indicating some difficulty in predicting the minority class.</a:t>
            </a:r>
          </a:p>
          <a:p>
            <a:pPr algn="just">
              <a:lnSpc>
                <a:spcPts val="2239"/>
              </a:lnSpc>
              <a:spcBef>
                <a:spcPct val="0"/>
              </a:spcBef>
            </a:pPr>
            <a:r>
              <a:rPr lang="en-US" b="true" sz="1599">
                <a:solidFill>
                  <a:srgbClr val="000000"/>
                </a:solidFill>
                <a:latin typeface="Poppins Bold"/>
                <a:ea typeface="Poppins Bold"/>
                <a:cs typeface="Poppins Bold"/>
                <a:sym typeface="Poppins Bold"/>
              </a:rPr>
              <a:t>The overall accuracy is quite high (0.92), but the difference in class performance is reflected in the macro and weighted averages.</a:t>
            </a:r>
          </a:p>
          <a:p>
            <a:pPr algn="just">
              <a:lnSpc>
                <a:spcPts val="2239"/>
              </a:lnSpc>
              <a:spcBef>
                <a:spcPct val="0"/>
              </a:spcBef>
            </a:pPr>
          </a:p>
          <a:p>
            <a:pPr algn="just">
              <a:lnSpc>
                <a:spcPts val="2239"/>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3503507">
            <a:off x="5380001" y="9454402"/>
            <a:ext cx="5068421" cy="1710448"/>
            <a:chOff x="0" y="0"/>
            <a:chExt cx="1334893" cy="450488"/>
          </a:xfrm>
        </p:grpSpPr>
        <p:sp>
          <p:nvSpPr>
            <p:cNvPr name="Freeform 3" id="3"/>
            <p:cNvSpPr/>
            <p:nvPr/>
          </p:nvSpPr>
          <p:spPr>
            <a:xfrm flipH="false" flipV="false" rot="0">
              <a:off x="0" y="0"/>
              <a:ext cx="1334893" cy="450488"/>
            </a:xfrm>
            <a:custGeom>
              <a:avLst/>
              <a:gdLst/>
              <a:ahLst/>
              <a:cxnLst/>
              <a:rect r="r" b="b" t="t" l="l"/>
              <a:pathLst>
                <a:path h="450488" w="1334893">
                  <a:moveTo>
                    <a:pt x="77902" y="0"/>
                  </a:moveTo>
                  <a:lnTo>
                    <a:pt x="1256991" y="0"/>
                  </a:lnTo>
                  <a:cubicBezTo>
                    <a:pt x="1277652" y="0"/>
                    <a:pt x="1297467" y="8207"/>
                    <a:pt x="1312076" y="22817"/>
                  </a:cubicBezTo>
                  <a:cubicBezTo>
                    <a:pt x="1326685" y="37426"/>
                    <a:pt x="1334893" y="57241"/>
                    <a:pt x="1334893" y="77902"/>
                  </a:cubicBezTo>
                  <a:lnTo>
                    <a:pt x="1334893" y="372587"/>
                  </a:lnTo>
                  <a:cubicBezTo>
                    <a:pt x="1334893" y="393248"/>
                    <a:pt x="1326685" y="413062"/>
                    <a:pt x="1312076" y="427672"/>
                  </a:cubicBezTo>
                  <a:cubicBezTo>
                    <a:pt x="1297467" y="442281"/>
                    <a:pt x="1277652" y="450488"/>
                    <a:pt x="1256991" y="450488"/>
                  </a:cubicBezTo>
                  <a:lnTo>
                    <a:pt x="77902" y="450488"/>
                  </a:lnTo>
                  <a:cubicBezTo>
                    <a:pt x="57241" y="450488"/>
                    <a:pt x="37426" y="442281"/>
                    <a:pt x="22817" y="427672"/>
                  </a:cubicBezTo>
                  <a:cubicBezTo>
                    <a:pt x="8207" y="413062"/>
                    <a:pt x="0" y="393248"/>
                    <a:pt x="0" y="372587"/>
                  </a:cubicBezTo>
                  <a:lnTo>
                    <a:pt x="0" y="77902"/>
                  </a:lnTo>
                  <a:cubicBezTo>
                    <a:pt x="0" y="57241"/>
                    <a:pt x="8207" y="37426"/>
                    <a:pt x="22817" y="22817"/>
                  </a:cubicBezTo>
                  <a:cubicBezTo>
                    <a:pt x="37426" y="8207"/>
                    <a:pt x="57241" y="0"/>
                    <a:pt x="77902" y="0"/>
                  </a:cubicBezTo>
                  <a:close/>
                </a:path>
              </a:pathLst>
            </a:custGeom>
            <a:solidFill>
              <a:srgbClr val="FFE9E9"/>
            </a:solidFill>
          </p:spPr>
        </p:sp>
        <p:sp>
          <p:nvSpPr>
            <p:cNvPr name="TextBox 4" id="4"/>
            <p:cNvSpPr txBox="true"/>
            <p:nvPr/>
          </p:nvSpPr>
          <p:spPr>
            <a:xfrm>
              <a:off x="0" y="-333375"/>
              <a:ext cx="1334893" cy="783863"/>
            </a:xfrm>
            <a:prstGeom prst="rect">
              <a:avLst/>
            </a:prstGeom>
          </p:spPr>
          <p:txBody>
            <a:bodyPr anchor="ctr" rtlCol="false" tIns="50800" lIns="50800" bIns="50800" rIns="50800"/>
            <a:lstStyle/>
            <a:p>
              <a:pPr algn="ctr">
                <a:lnSpc>
                  <a:spcPts val="6249"/>
                </a:lnSpc>
              </a:pPr>
            </a:p>
          </p:txBody>
        </p:sp>
      </p:grpSp>
      <p:grpSp>
        <p:nvGrpSpPr>
          <p:cNvPr name="Group 5" id="5"/>
          <p:cNvGrpSpPr/>
          <p:nvPr/>
        </p:nvGrpSpPr>
        <p:grpSpPr>
          <a:xfrm rot="-3503507">
            <a:off x="551042" y="-1554003"/>
            <a:ext cx="5068421" cy="1710448"/>
            <a:chOff x="0" y="0"/>
            <a:chExt cx="1334893" cy="450488"/>
          </a:xfrm>
        </p:grpSpPr>
        <p:sp>
          <p:nvSpPr>
            <p:cNvPr name="Freeform 6" id="6"/>
            <p:cNvSpPr/>
            <p:nvPr/>
          </p:nvSpPr>
          <p:spPr>
            <a:xfrm flipH="false" flipV="false" rot="0">
              <a:off x="0" y="0"/>
              <a:ext cx="1334893" cy="450488"/>
            </a:xfrm>
            <a:custGeom>
              <a:avLst/>
              <a:gdLst/>
              <a:ahLst/>
              <a:cxnLst/>
              <a:rect r="r" b="b" t="t" l="l"/>
              <a:pathLst>
                <a:path h="450488" w="1334893">
                  <a:moveTo>
                    <a:pt x="77902" y="0"/>
                  </a:moveTo>
                  <a:lnTo>
                    <a:pt x="1256991" y="0"/>
                  </a:lnTo>
                  <a:cubicBezTo>
                    <a:pt x="1277652" y="0"/>
                    <a:pt x="1297467" y="8207"/>
                    <a:pt x="1312076" y="22817"/>
                  </a:cubicBezTo>
                  <a:cubicBezTo>
                    <a:pt x="1326685" y="37426"/>
                    <a:pt x="1334893" y="57241"/>
                    <a:pt x="1334893" y="77902"/>
                  </a:cubicBezTo>
                  <a:lnTo>
                    <a:pt x="1334893" y="372587"/>
                  </a:lnTo>
                  <a:cubicBezTo>
                    <a:pt x="1334893" y="393248"/>
                    <a:pt x="1326685" y="413062"/>
                    <a:pt x="1312076" y="427672"/>
                  </a:cubicBezTo>
                  <a:cubicBezTo>
                    <a:pt x="1297467" y="442281"/>
                    <a:pt x="1277652" y="450488"/>
                    <a:pt x="1256991" y="450488"/>
                  </a:cubicBezTo>
                  <a:lnTo>
                    <a:pt x="77902" y="450488"/>
                  </a:lnTo>
                  <a:cubicBezTo>
                    <a:pt x="57241" y="450488"/>
                    <a:pt x="37426" y="442281"/>
                    <a:pt x="22817" y="427672"/>
                  </a:cubicBezTo>
                  <a:cubicBezTo>
                    <a:pt x="8207" y="413062"/>
                    <a:pt x="0" y="393248"/>
                    <a:pt x="0" y="372587"/>
                  </a:cubicBezTo>
                  <a:lnTo>
                    <a:pt x="0" y="77902"/>
                  </a:lnTo>
                  <a:cubicBezTo>
                    <a:pt x="0" y="57241"/>
                    <a:pt x="8207" y="37426"/>
                    <a:pt x="22817" y="22817"/>
                  </a:cubicBezTo>
                  <a:cubicBezTo>
                    <a:pt x="37426" y="8207"/>
                    <a:pt x="57241" y="0"/>
                    <a:pt x="77902" y="0"/>
                  </a:cubicBezTo>
                  <a:close/>
                </a:path>
              </a:pathLst>
            </a:custGeom>
            <a:solidFill>
              <a:srgbClr val="FFE9E9"/>
            </a:solidFill>
          </p:spPr>
        </p:sp>
        <p:sp>
          <p:nvSpPr>
            <p:cNvPr name="TextBox 7" id="7"/>
            <p:cNvSpPr txBox="true"/>
            <p:nvPr/>
          </p:nvSpPr>
          <p:spPr>
            <a:xfrm>
              <a:off x="0" y="-333375"/>
              <a:ext cx="1334893" cy="783863"/>
            </a:xfrm>
            <a:prstGeom prst="rect">
              <a:avLst/>
            </a:prstGeom>
          </p:spPr>
          <p:txBody>
            <a:bodyPr anchor="ctr" rtlCol="false" tIns="50800" lIns="50800" bIns="50800" rIns="50800"/>
            <a:lstStyle/>
            <a:p>
              <a:pPr algn="ctr">
                <a:lnSpc>
                  <a:spcPts val="6249"/>
                </a:lnSpc>
              </a:pPr>
            </a:p>
          </p:txBody>
        </p:sp>
      </p:grpSp>
      <p:sp>
        <p:nvSpPr>
          <p:cNvPr name="AutoShape 8" id="8"/>
          <p:cNvSpPr/>
          <p:nvPr/>
        </p:nvSpPr>
        <p:spPr>
          <a:xfrm>
            <a:off x="-766756" y="2142954"/>
            <a:ext cx="10602143" cy="0"/>
          </a:xfrm>
          <a:prstGeom prst="line">
            <a:avLst/>
          </a:prstGeom>
          <a:ln cap="flat" w="28575">
            <a:solidFill>
              <a:srgbClr val="000000"/>
            </a:solidFill>
            <a:prstDash val="solid"/>
            <a:headEnd type="none" len="sm" w="sm"/>
            <a:tailEnd type="none" len="sm" w="sm"/>
          </a:ln>
        </p:spPr>
      </p:sp>
      <p:sp>
        <p:nvSpPr>
          <p:cNvPr name="Freeform 9" id="9"/>
          <p:cNvSpPr/>
          <p:nvPr/>
        </p:nvSpPr>
        <p:spPr>
          <a:xfrm flipH="false" flipV="false" rot="0">
            <a:off x="1604187" y="2483008"/>
            <a:ext cx="7041112" cy="6872933"/>
          </a:xfrm>
          <a:custGeom>
            <a:avLst/>
            <a:gdLst/>
            <a:ahLst/>
            <a:cxnLst/>
            <a:rect r="r" b="b" t="t" l="l"/>
            <a:pathLst>
              <a:path h="6872933" w="7041112">
                <a:moveTo>
                  <a:pt x="0" y="0"/>
                </a:moveTo>
                <a:lnTo>
                  <a:pt x="7041112" y="0"/>
                </a:lnTo>
                <a:lnTo>
                  <a:pt x="7041112" y="6872933"/>
                </a:lnTo>
                <a:lnTo>
                  <a:pt x="0" y="6872933"/>
                </a:lnTo>
                <a:lnTo>
                  <a:pt x="0" y="0"/>
                </a:lnTo>
                <a:close/>
              </a:path>
            </a:pathLst>
          </a:custGeom>
          <a:blipFill>
            <a:blip r:embed="rId2"/>
            <a:stretch>
              <a:fillRect l="0" t="0" r="0" b="0"/>
            </a:stretch>
          </a:blipFill>
        </p:spPr>
      </p:sp>
      <p:sp>
        <p:nvSpPr>
          <p:cNvPr name="TextBox 10" id="10"/>
          <p:cNvSpPr txBox="true"/>
          <p:nvPr/>
        </p:nvSpPr>
        <p:spPr>
          <a:xfrm rot="0">
            <a:off x="1204284" y="1066800"/>
            <a:ext cx="12729410" cy="568337"/>
          </a:xfrm>
          <a:prstGeom prst="rect">
            <a:avLst/>
          </a:prstGeom>
        </p:spPr>
        <p:txBody>
          <a:bodyPr anchor="t" rtlCol="false" tIns="0" lIns="0" bIns="0" rIns="0">
            <a:spAutoFit/>
          </a:bodyPr>
          <a:lstStyle/>
          <a:p>
            <a:pPr algn="l">
              <a:lnSpc>
                <a:spcPts val="3999"/>
              </a:lnSpc>
            </a:pPr>
            <a:r>
              <a:rPr lang="en-US" sz="3999" b="true">
                <a:solidFill>
                  <a:srgbClr val="8D0000"/>
                </a:solidFill>
                <a:latin typeface="Poppins Bold"/>
                <a:ea typeface="Poppins Bold"/>
                <a:cs typeface="Poppins Bold"/>
                <a:sym typeface="Poppins Bold"/>
              </a:rPr>
              <a:t>FEATURE IMPORTANCE FROM RANDOMFOREST</a:t>
            </a:r>
          </a:p>
        </p:txBody>
      </p:sp>
      <p:sp>
        <p:nvSpPr>
          <p:cNvPr name="TextBox 11" id="11"/>
          <p:cNvSpPr txBox="true"/>
          <p:nvPr/>
        </p:nvSpPr>
        <p:spPr>
          <a:xfrm rot="0">
            <a:off x="9425730" y="2662422"/>
            <a:ext cx="8066921" cy="3946748"/>
          </a:xfrm>
          <a:prstGeom prst="rect">
            <a:avLst/>
          </a:prstGeom>
        </p:spPr>
        <p:txBody>
          <a:bodyPr anchor="t" rtlCol="false" tIns="0" lIns="0" bIns="0" rIns="0">
            <a:spAutoFit/>
          </a:bodyPr>
          <a:lstStyle/>
          <a:p>
            <a:pPr algn="l">
              <a:lnSpc>
                <a:spcPts val="3499"/>
              </a:lnSpc>
              <a:spcBef>
                <a:spcPct val="0"/>
              </a:spcBef>
            </a:pPr>
            <a:r>
              <a:rPr lang="en-US" sz="2499">
                <a:solidFill>
                  <a:srgbClr val="8D0000"/>
                </a:solidFill>
                <a:latin typeface="Poppins"/>
                <a:ea typeface="Poppins"/>
                <a:cs typeface="Poppins"/>
                <a:sym typeface="Poppins"/>
              </a:rPr>
              <a:t>The most influent</a:t>
            </a:r>
            <a:r>
              <a:rPr lang="en-US" sz="2499">
                <a:solidFill>
                  <a:srgbClr val="8D0000"/>
                </a:solidFill>
                <a:latin typeface="Poppins"/>
                <a:ea typeface="Poppins"/>
                <a:cs typeface="Poppins"/>
                <a:sym typeface="Poppins"/>
              </a:rPr>
              <a:t>ial factors driving customer behavior are d</a:t>
            </a:r>
            <a:r>
              <a:rPr lang="en-US" b="true" sz="2499">
                <a:solidFill>
                  <a:srgbClr val="8D0000"/>
                </a:solidFill>
                <a:latin typeface="Poppins Bold"/>
                <a:ea typeface="Poppins Bold"/>
                <a:cs typeface="Poppins Bold"/>
                <a:sym typeface="Poppins Bold"/>
              </a:rPr>
              <a:t>esktop_sessions, customer_service_calls</a:t>
            </a:r>
            <a:r>
              <a:rPr lang="en-US" sz="2499">
                <a:solidFill>
                  <a:srgbClr val="8D0000"/>
                </a:solidFill>
                <a:latin typeface="Poppins"/>
                <a:ea typeface="Poppins"/>
                <a:cs typeface="Poppins"/>
                <a:sym typeface="Poppins"/>
              </a:rPr>
              <a:t>, and </a:t>
            </a:r>
            <a:r>
              <a:rPr lang="en-US" b="true" sz="2499">
                <a:solidFill>
                  <a:srgbClr val="8D0000"/>
                </a:solidFill>
                <a:latin typeface="Poppins Bold"/>
                <a:ea typeface="Poppins Bold"/>
                <a:cs typeface="Poppins Bold"/>
                <a:sym typeface="Poppins Bold"/>
              </a:rPr>
              <a:t>app_sessions</a:t>
            </a:r>
            <a:r>
              <a:rPr lang="en-US" sz="2499">
                <a:solidFill>
                  <a:srgbClr val="8D0000"/>
                </a:solidFill>
                <a:latin typeface="Poppins"/>
                <a:ea typeface="Poppins"/>
                <a:cs typeface="Poppins"/>
                <a:sym typeface="Poppins"/>
              </a:rPr>
              <a:t>, suggesting that both online engagement and customer support interactions strongly affect outcomes.</a:t>
            </a:r>
          </a:p>
          <a:p>
            <a:pPr algn="l">
              <a:lnSpc>
                <a:spcPts val="3499"/>
              </a:lnSpc>
              <a:spcBef>
                <a:spcPct val="0"/>
              </a:spcBef>
            </a:pPr>
            <a:r>
              <a:rPr lang="en-US" sz="2499">
                <a:solidFill>
                  <a:srgbClr val="8D0000"/>
                </a:solidFill>
                <a:latin typeface="Poppins"/>
                <a:ea typeface="Poppins"/>
                <a:cs typeface="Poppins"/>
                <a:sym typeface="Poppins"/>
              </a:rPr>
              <a:t> Lower importance for </a:t>
            </a:r>
            <a:r>
              <a:rPr lang="en-US" b="true" sz="2499">
                <a:solidFill>
                  <a:srgbClr val="8D0000"/>
                </a:solidFill>
                <a:latin typeface="Poppins Bold"/>
                <a:ea typeface="Poppins Bold"/>
                <a:cs typeface="Poppins Bold"/>
                <a:sym typeface="Poppins Bold"/>
              </a:rPr>
              <a:t>location codes</a:t>
            </a:r>
            <a:r>
              <a:rPr lang="en-US" sz="2499">
                <a:solidFill>
                  <a:srgbClr val="8D0000"/>
                </a:solidFill>
                <a:latin typeface="Poppins"/>
                <a:ea typeface="Poppins"/>
                <a:cs typeface="Poppins"/>
                <a:sym typeface="Poppins"/>
              </a:rPr>
              <a:t> and </a:t>
            </a:r>
            <a:r>
              <a:rPr lang="en-US" b="true" sz="2499">
                <a:solidFill>
                  <a:srgbClr val="8D0000"/>
                </a:solidFill>
                <a:latin typeface="Poppins Bold"/>
                <a:ea typeface="Poppins Bold"/>
                <a:cs typeface="Poppins Bold"/>
                <a:sym typeface="Poppins Bold"/>
              </a:rPr>
              <a:t>push notifications</a:t>
            </a:r>
            <a:r>
              <a:rPr lang="en-US" sz="2499">
                <a:solidFill>
                  <a:srgbClr val="8D0000"/>
                </a:solidFill>
                <a:latin typeface="Poppins"/>
                <a:ea typeface="Poppins"/>
                <a:cs typeface="Poppins"/>
                <a:sym typeface="Poppins"/>
              </a:rPr>
              <a:t> indicates that geography and alerts play a minor role in predicting customer actions.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3503507">
            <a:off x="5380001" y="9454402"/>
            <a:ext cx="5068421" cy="1710448"/>
            <a:chOff x="0" y="0"/>
            <a:chExt cx="1334893" cy="450488"/>
          </a:xfrm>
        </p:grpSpPr>
        <p:sp>
          <p:nvSpPr>
            <p:cNvPr name="Freeform 3" id="3"/>
            <p:cNvSpPr/>
            <p:nvPr/>
          </p:nvSpPr>
          <p:spPr>
            <a:xfrm flipH="false" flipV="false" rot="0">
              <a:off x="0" y="0"/>
              <a:ext cx="1334893" cy="450488"/>
            </a:xfrm>
            <a:custGeom>
              <a:avLst/>
              <a:gdLst/>
              <a:ahLst/>
              <a:cxnLst/>
              <a:rect r="r" b="b" t="t" l="l"/>
              <a:pathLst>
                <a:path h="450488" w="1334893">
                  <a:moveTo>
                    <a:pt x="77902" y="0"/>
                  </a:moveTo>
                  <a:lnTo>
                    <a:pt x="1256991" y="0"/>
                  </a:lnTo>
                  <a:cubicBezTo>
                    <a:pt x="1277652" y="0"/>
                    <a:pt x="1297467" y="8207"/>
                    <a:pt x="1312076" y="22817"/>
                  </a:cubicBezTo>
                  <a:cubicBezTo>
                    <a:pt x="1326685" y="37426"/>
                    <a:pt x="1334893" y="57241"/>
                    <a:pt x="1334893" y="77902"/>
                  </a:cubicBezTo>
                  <a:lnTo>
                    <a:pt x="1334893" y="372587"/>
                  </a:lnTo>
                  <a:cubicBezTo>
                    <a:pt x="1334893" y="393248"/>
                    <a:pt x="1326685" y="413062"/>
                    <a:pt x="1312076" y="427672"/>
                  </a:cubicBezTo>
                  <a:cubicBezTo>
                    <a:pt x="1297467" y="442281"/>
                    <a:pt x="1277652" y="450488"/>
                    <a:pt x="1256991" y="450488"/>
                  </a:cubicBezTo>
                  <a:lnTo>
                    <a:pt x="77902" y="450488"/>
                  </a:lnTo>
                  <a:cubicBezTo>
                    <a:pt x="57241" y="450488"/>
                    <a:pt x="37426" y="442281"/>
                    <a:pt x="22817" y="427672"/>
                  </a:cubicBezTo>
                  <a:cubicBezTo>
                    <a:pt x="8207" y="413062"/>
                    <a:pt x="0" y="393248"/>
                    <a:pt x="0" y="372587"/>
                  </a:cubicBezTo>
                  <a:lnTo>
                    <a:pt x="0" y="77902"/>
                  </a:lnTo>
                  <a:cubicBezTo>
                    <a:pt x="0" y="57241"/>
                    <a:pt x="8207" y="37426"/>
                    <a:pt x="22817" y="22817"/>
                  </a:cubicBezTo>
                  <a:cubicBezTo>
                    <a:pt x="37426" y="8207"/>
                    <a:pt x="57241" y="0"/>
                    <a:pt x="77902" y="0"/>
                  </a:cubicBezTo>
                  <a:close/>
                </a:path>
              </a:pathLst>
            </a:custGeom>
            <a:solidFill>
              <a:srgbClr val="FFE9E9"/>
            </a:solidFill>
          </p:spPr>
        </p:sp>
        <p:sp>
          <p:nvSpPr>
            <p:cNvPr name="TextBox 4" id="4"/>
            <p:cNvSpPr txBox="true"/>
            <p:nvPr/>
          </p:nvSpPr>
          <p:spPr>
            <a:xfrm>
              <a:off x="0" y="-333375"/>
              <a:ext cx="1334893" cy="783863"/>
            </a:xfrm>
            <a:prstGeom prst="rect">
              <a:avLst/>
            </a:prstGeom>
          </p:spPr>
          <p:txBody>
            <a:bodyPr anchor="ctr" rtlCol="false" tIns="50800" lIns="50800" bIns="50800" rIns="50800"/>
            <a:lstStyle/>
            <a:p>
              <a:pPr algn="ctr">
                <a:lnSpc>
                  <a:spcPts val="6249"/>
                </a:lnSpc>
              </a:pPr>
            </a:p>
          </p:txBody>
        </p:sp>
      </p:grpSp>
      <p:grpSp>
        <p:nvGrpSpPr>
          <p:cNvPr name="Group 5" id="5"/>
          <p:cNvGrpSpPr/>
          <p:nvPr/>
        </p:nvGrpSpPr>
        <p:grpSpPr>
          <a:xfrm rot="-3503507">
            <a:off x="551042" y="-1554003"/>
            <a:ext cx="5068421" cy="1710448"/>
            <a:chOff x="0" y="0"/>
            <a:chExt cx="1334893" cy="450488"/>
          </a:xfrm>
        </p:grpSpPr>
        <p:sp>
          <p:nvSpPr>
            <p:cNvPr name="Freeform 6" id="6"/>
            <p:cNvSpPr/>
            <p:nvPr/>
          </p:nvSpPr>
          <p:spPr>
            <a:xfrm flipH="false" flipV="false" rot="0">
              <a:off x="0" y="0"/>
              <a:ext cx="1334893" cy="450488"/>
            </a:xfrm>
            <a:custGeom>
              <a:avLst/>
              <a:gdLst/>
              <a:ahLst/>
              <a:cxnLst/>
              <a:rect r="r" b="b" t="t" l="l"/>
              <a:pathLst>
                <a:path h="450488" w="1334893">
                  <a:moveTo>
                    <a:pt x="77902" y="0"/>
                  </a:moveTo>
                  <a:lnTo>
                    <a:pt x="1256991" y="0"/>
                  </a:lnTo>
                  <a:cubicBezTo>
                    <a:pt x="1277652" y="0"/>
                    <a:pt x="1297467" y="8207"/>
                    <a:pt x="1312076" y="22817"/>
                  </a:cubicBezTo>
                  <a:cubicBezTo>
                    <a:pt x="1326685" y="37426"/>
                    <a:pt x="1334893" y="57241"/>
                    <a:pt x="1334893" y="77902"/>
                  </a:cubicBezTo>
                  <a:lnTo>
                    <a:pt x="1334893" y="372587"/>
                  </a:lnTo>
                  <a:cubicBezTo>
                    <a:pt x="1334893" y="393248"/>
                    <a:pt x="1326685" y="413062"/>
                    <a:pt x="1312076" y="427672"/>
                  </a:cubicBezTo>
                  <a:cubicBezTo>
                    <a:pt x="1297467" y="442281"/>
                    <a:pt x="1277652" y="450488"/>
                    <a:pt x="1256991" y="450488"/>
                  </a:cubicBezTo>
                  <a:lnTo>
                    <a:pt x="77902" y="450488"/>
                  </a:lnTo>
                  <a:cubicBezTo>
                    <a:pt x="57241" y="450488"/>
                    <a:pt x="37426" y="442281"/>
                    <a:pt x="22817" y="427672"/>
                  </a:cubicBezTo>
                  <a:cubicBezTo>
                    <a:pt x="8207" y="413062"/>
                    <a:pt x="0" y="393248"/>
                    <a:pt x="0" y="372587"/>
                  </a:cubicBezTo>
                  <a:lnTo>
                    <a:pt x="0" y="77902"/>
                  </a:lnTo>
                  <a:cubicBezTo>
                    <a:pt x="0" y="57241"/>
                    <a:pt x="8207" y="37426"/>
                    <a:pt x="22817" y="22817"/>
                  </a:cubicBezTo>
                  <a:cubicBezTo>
                    <a:pt x="37426" y="8207"/>
                    <a:pt x="57241" y="0"/>
                    <a:pt x="77902" y="0"/>
                  </a:cubicBezTo>
                  <a:close/>
                </a:path>
              </a:pathLst>
            </a:custGeom>
            <a:solidFill>
              <a:srgbClr val="FFE9E9"/>
            </a:solidFill>
          </p:spPr>
        </p:sp>
        <p:sp>
          <p:nvSpPr>
            <p:cNvPr name="TextBox 7" id="7"/>
            <p:cNvSpPr txBox="true"/>
            <p:nvPr/>
          </p:nvSpPr>
          <p:spPr>
            <a:xfrm>
              <a:off x="0" y="-333375"/>
              <a:ext cx="1334893" cy="783863"/>
            </a:xfrm>
            <a:prstGeom prst="rect">
              <a:avLst/>
            </a:prstGeom>
          </p:spPr>
          <p:txBody>
            <a:bodyPr anchor="ctr" rtlCol="false" tIns="50800" lIns="50800" bIns="50800" rIns="50800"/>
            <a:lstStyle/>
            <a:p>
              <a:pPr algn="ctr">
                <a:lnSpc>
                  <a:spcPts val="6249"/>
                </a:lnSpc>
              </a:pPr>
            </a:p>
          </p:txBody>
        </p:sp>
      </p:grpSp>
      <p:sp>
        <p:nvSpPr>
          <p:cNvPr name="AutoShape 8" id="8"/>
          <p:cNvSpPr/>
          <p:nvPr/>
        </p:nvSpPr>
        <p:spPr>
          <a:xfrm>
            <a:off x="-631378" y="1922004"/>
            <a:ext cx="10602143" cy="0"/>
          </a:xfrm>
          <a:prstGeom prst="line">
            <a:avLst/>
          </a:prstGeom>
          <a:ln cap="flat" w="28575">
            <a:solidFill>
              <a:srgbClr val="000000"/>
            </a:solidFill>
            <a:prstDash val="solid"/>
            <a:headEnd type="none" len="sm" w="sm"/>
            <a:tailEnd type="none" len="sm" w="sm"/>
          </a:ln>
        </p:spPr>
      </p:sp>
      <p:sp>
        <p:nvSpPr>
          <p:cNvPr name="Freeform 9" id="9"/>
          <p:cNvSpPr/>
          <p:nvPr/>
        </p:nvSpPr>
        <p:spPr>
          <a:xfrm flipH="false" flipV="false" rot="0">
            <a:off x="1305818" y="3132805"/>
            <a:ext cx="15171589" cy="3242927"/>
          </a:xfrm>
          <a:custGeom>
            <a:avLst/>
            <a:gdLst/>
            <a:ahLst/>
            <a:cxnLst/>
            <a:rect r="r" b="b" t="t" l="l"/>
            <a:pathLst>
              <a:path h="3242927" w="15171589">
                <a:moveTo>
                  <a:pt x="0" y="0"/>
                </a:moveTo>
                <a:lnTo>
                  <a:pt x="15171589" y="0"/>
                </a:lnTo>
                <a:lnTo>
                  <a:pt x="15171589" y="3242927"/>
                </a:lnTo>
                <a:lnTo>
                  <a:pt x="0" y="3242927"/>
                </a:lnTo>
                <a:lnTo>
                  <a:pt x="0" y="0"/>
                </a:lnTo>
                <a:close/>
              </a:path>
            </a:pathLst>
          </a:custGeom>
          <a:blipFill>
            <a:blip r:embed="rId2"/>
            <a:stretch>
              <a:fillRect l="0" t="0" r="0" b="0"/>
            </a:stretch>
          </a:blipFill>
        </p:spPr>
      </p:sp>
      <p:sp>
        <p:nvSpPr>
          <p:cNvPr name="Freeform 10" id="10"/>
          <p:cNvSpPr/>
          <p:nvPr/>
        </p:nvSpPr>
        <p:spPr>
          <a:xfrm flipH="false" flipV="false" rot="0">
            <a:off x="1462693" y="6785307"/>
            <a:ext cx="15225226" cy="1522523"/>
          </a:xfrm>
          <a:custGeom>
            <a:avLst/>
            <a:gdLst/>
            <a:ahLst/>
            <a:cxnLst/>
            <a:rect r="r" b="b" t="t" l="l"/>
            <a:pathLst>
              <a:path h="1522523" w="15225226">
                <a:moveTo>
                  <a:pt x="0" y="0"/>
                </a:moveTo>
                <a:lnTo>
                  <a:pt x="15225225" y="0"/>
                </a:lnTo>
                <a:lnTo>
                  <a:pt x="15225225" y="1522522"/>
                </a:lnTo>
                <a:lnTo>
                  <a:pt x="0" y="1522522"/>
                </a:lnTo>
                <a:lnTo>
                  <a:pt x="0" y="0"/>
                </a:lnTo>
                <a:close/>
              </a:path>
            </a:pathLst>
          </a:custGeom>
          <a:blipFill>
            <a:blip r:embed="rId3"/>
            <a:stretch>
              <a:fillRect l="0" t="0" r="0" b="0"/>
            </a:stretch>
          </a:blipFill>
        </p:spPr>
      </p:sp>
      <p:sp>
        <p:nvSpPr>
          <p:cNvPr name="TextBox 11" id="11"/>
          <p:cNvSpPr txBox="true"/>
          <p:nvPr/>
        </p:nvSpPr>
        <p:spPr>
          <a:xfrm rot="0">
            <a:off x="1204284" y="2231092"/>
            <a:ext cx="13174253" cy="492138"/>
          </a:xfrm>
          <a:prstGeom prst="rect">
            <a:avLst/>
          </a:prstGeom>
        </p:spPr>
        <p:txBody>
          <a:bodyPr anchor="t" rtlCol="false" tIns="0" lIns="0" bIns="0" rIns="0">
            <a:spAutoFit/>
          </a:bodyPr>
          <a:lstStyle/>
          <a:p>
            <a:pPr algn="l">
              <a:lnSpc>
                <a:spcPts val="3999"/>
              </a:lnSpc>
            </a:pPr>
            <a:r>
              <a:rPr lang="en-US" sz="2499">
                <a:solidFill>
                  <a:srgbClr val="2E2E2E"/>
                </a:solidFill>
                <a:latin typeface="Poppins"/>
                <a:ea typeface="Poppins"/>
                <a:cs typeface="Poppins"/>
                <a:sym typeface="Poppins"/>
              </a:rPr>
              <a:t>Categorical Data – push_status, credit_card_info_save, location_code</a:t>
            </a:r>
          </a:p>
        </p:txBody>
      </p:sp>
      <p:sp>
        <p:nvSpPr>
          <p:cNvPr name="TextBox 12" id="12"/>
          <p:cNvSpPr txBox="true"/>
          <p:nvPr/>
        </p:nvSpPr>
        <p:spPr>
          <a:xfrm rot="0">
            <a:off x="1305818" y="1066800"/>
            <a:ext cx="12475576" cy="568337"/>
          </a:xfrm>
          <a:prstGeom prst="rect">
            <a:avLst/>
          </a:prstGeom>
        </p:spPr>
        <p:txBody>
          <a:bodyPr anchor="t" rtlCol="false" tIns="0" lIns="0" bIns="0" rIns="0">
            <a:spAutoFit/>
          </a:bodyPr>
          <a:lstStyle/>
          <a:p>
            <a:pPr algn="l">
              <a:lnSpc>
                <a:spcPts val="3999"/>
              </a:lnSpc>
            </a:pPr>
            <a:r>
              <a:rPr lang="en-US" sz="3999" b="true">
                <a:solidFill>
                  <a:srgbClr val="8D0000"/>
                </a:solidFill>
                <a:latin typeface="Poppins Bold"/>
                <a:ea typeface="Poppins Bold"/>
                <a:cs typeface="Poppins Bold"/>
                <a:sym typeface="Poppins Bold"/>
              </a:rPr>
              <a:t>OBSERVATION FROM THE CATEGORICAL DATA</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3503507">
            <a:off x="5380001" y="9454402"/>
            <a:ext cx="5068421" cy="1710448"/>
            <a:chOff x="0" y="0"/>
            <a:chExt cx="1334893" cy="450488"/>
          </a:xfrm>
        </p:grpSpPr>
        <p:sp>
          <p:nvSpPr>
            <p:cNvPr name="Freeform 3" id="3"/>
            <p:cNvSpPr/>
            <p:nvPr/>
          </p:nvSpPr>
          <p:spPr>
            <a:xfrm flipH="false" flipV="false" rot="0">
              <a:off x="0" y="0"/>
              <a:ext cx="1334893" cy="450488"/>
            </a:xfrm>
            <a:custGeom>
              <a:avLst/>
              <a:gdLst/>
              <a:ahLst/>
              <a:cxnLst/>
              <a:rect r="r" b="b" t="t" l="l"/>
              <a:pathLst>
                <a:path h="450488" w="1334893">
                  <a:moveTo>
                    <a:pt x="77902" y="0"/>
                  </a:moveTo>
                  <a:lnTo>
                    <a:pt x="1256991" y="0"/>
                  </a:lnTo>
                  <a:cubicBezTo>
                    <a:pt x="1277652" y="0"/>
                    <a:pt x="1297467" y="8207"/>
                    <a:pt x="1312076" y="22817"/>
                  </a:cubicBezTo>
                  <a:cubicBezTo>
                    <a:pt x="1326685" y="37426"/>
                    <a:pt x="1334893" y="57241"/>
                    <a:pt x="1334893" y="77902"/>
                  </a:cubicBezTo>
                  <a:lnTo>
                    <a:pt x="1334893" y="372587"/>
                  </a:lnTo>
                  <a:cubicBezTo>
                    <a:pt x="1334893" y="393248"/>
                    <a:pt x="1326685" y="413062"/>
                    <a:pt x="1312076" y="427672"/>
                  </a:cubicBezTo>
                  <a:cubicBezTo>
                    <a:pt x="1297467" y="442281"/>
                    <a:pt x="1277652" y="450488"/>
                    <a:pt x="1256991" y="450488"/>
                  </a:cubicBezTo>
                  <a:lnTo>
                    <a:pt x="77902" y="450488"/>
                  </a:lnTo>
                  <a:cubicBezTo>
                    <a:pt x="57241" y="450488"/>
                    <a:pt x="37426" y="442281"/>
                    <a:pt x="22817" y="427672"/>
                  </a:cubicBezTo>
                  <a:cubicBezTo>
                    <a:pt x="8207" y="413062"/>
                    <a:pt x="0" y="393248"/>
                    <a:pt x="0" y="372587"/>
                  </a:cubicBezTo>
                  <a:lnTo>
                    <a:pt x="0" y="77902"/>
                  </a:lnTo>
                  <a:cubicBezTo>
                    <a:pt x="0" y="57241"/>
                    <a:pt x="8207" y="37426"/>
                    <a:pt x="22817" y="22817"/>
                  </a:cubicBezTo>
                  <a:cubicBezTo>
                    <a:pt x="37426" y="8207"/>
                    <a:pt x="57241" y="0"/>
                    <a:pt x="77902" y="0"/>
                  </a:cubicBezTo>
                  <a:close/>
                </a:path>
              </a:pathLst>
            </a:custGeom>
            <a:solidFill>
              <a:srgbClr val="FFE9E9"/>
            </a:solidFill>
          </p:spPr>
        </p:sp>
        <p:sp>
          <p:nvSpPr>
            <p:cNvPr name="TextBox 4" id="4"/>
            <p:cNvSpPr txBox="true"/>
            <p:nvPr/>
          </p:nvSpPr>
          <p:spPr>
            <a:xfrm>
              <a:off x="0" y="-333375"/>
              <a:ext cx="1334893" cy="783863"/>
            </a:xfrm>
            <a:prstGeom prst="rect">
              <a:avLst/>
            </a:prstGeom>
          </p:spPr>
          <p:txBody>
            <a:bodyPr anchor="ctr" rtlCol="false" tIns="50800" lIns="50800" bIns="50800" rIns="50800"/>
            <a:lstStyle/>
            <a:p>
              <a:pPr algn="ctr">
                <a:lnSpc>
                  <a:spcPts val="6249"/>
                </a:lnSpc>
              </a:pPr>
            </a:p>
          </p:txBody>
        </p:sp>
      </p:grpSp>
      <p:grpSp>
        <p:nvGrpSpPr>
          <p:cNvPr name="Group 5" id="5"/>
          <p:cNvGrpSpPr/>
          <p:nvPr/>
        </p:nvGrpSpPr>
        <p:grpSpPr>
          <a:xfrm rot="-3503507">
            <a:off x="551042" y="-1554003"/>
            <a:ext cx="5068421" cy="1710448"/>
            <a:chOff x="0" y="0"/>
            <a:chExt cx="1334893" cy="450488"/>
          </a:xfrm>
        </p:grpSpPr>
        <p:sp>
          <p:nvSpPr>
            <p:cNvPr name="Freeform 6" id="6"/>
            <p:cNvSpPr/>
            <p:nvPr/>
          </p:nvSpPr>
          <p:spPr>
            <a:xfrm flipH="false" flipV="false" rot="0">
              <a:off x="0" y="0"/>
              <a:ext cx="1334893" cy="450488"/>
            </a:xfrm>
            <a:custGeom>
              <a:avLst/>
              <a:gdLst/>
              <a:ahLst/>
              <a:cxnLst/>
              <a:rect r="r" b="b" t="t" l="l"/>
              <a:pathLst>
                <a:path h="450488" w="1334893">
                  <a:moveTo>
                    <a:pt x="77902" y="0"/>
                  </a:moveTo>
                  <a:lnTo>
                    <a:pt x="1256991" y="0"/>
                  </a:lnTo>
                  <a:cubicBezTo>
                    <a:pt x="1277652" y="0"/>
                    <a:pt x="1297467" y="8207"/>
                    <a:pt x="1312076" y="22817"/>
                  </a:cubicBezTo>
                  <a:cubicBezTo>
                    <a:pt x="1326685" y="37426"/>
                    <a:pt x="1334893" y="57241"/>
                    <a:pt x="1334893" y="77902"/>
                  </a:cubicBezTo>
                  <a:lnTo>
                    <a:pt x="1334893" y="372587"/>
                  </a:lnTo>
                  <a:cubicBezTo>
                    <a:pt x="1334893" y="393248"/>
                    <a:pt x="1326685" y="413062"/>
                    <a:pt x="1312076" y="427672"/>
                  </a:cubicBezTo>
                  <a:cubicBezTo>
                    <a:pt x="1297467" y="442281"/>
                    <a:pt x="1277652" y="450488"/>
                    <a:pt x="1256991" y="450488"/>
                  </a:cubicBezTo>
                  <a:lnTo>
                    <a:pt x="77902" y="450488"/>
                  </a:lnTo>
                  <a:cubicBezTo>
                    <a:pt x="57241" y="450488"/>
                    <a:pt x="37426" y="442281"/>
                    <a:pt x="22817" y="427672"/>
                  </a:cubicBezTo>
                  <a:cubicBezTo>
                    <a:pt x="8207" y="413062"/>
                    <a:pt x="0" y="393248"/>
                    <a:pt x="0" y="372587"/>
                  </a:cubicBezTo>
                  <a:lnTo>
                    <a:pt x="0" y="77902"/>
                  </a:lnTo>
                  <a:cubicBezTo>
                    <a:pt x="0" y="57241"/>
                    <a:pt x="8207" y="37426"/>
                    <a:pt x="22817" y="22817"/>
                  </a:cubicBezTo>
                  <a:cubicBezTo>
                    <a:pt x="37426" y="8207"/>
                    <a:pt x="57241" y="0"/>
                    <a:pt x="77902" y="0"/>
                  </a:cubicBezTo>
                  <a:close/>
                </a:path>
              </a:pathLst>
            </a:custGeom>
            <a:solidFill>
              <a:srgbClr val="FFE9E9"/>
            </a:solidFill>
          </p:spPr>
        </p:sp>
        <p:sp>
          <p:nvSpPr>
            <p:cNvPr name="TextBox 7" id="7"/>
            <p:cNvSpPr txBox="true"/>
            <p:nvPr/>
          </p:nvSpPr>
          <p:spPr>
            <a:xfrm>
              <a:off x="0" y="-333375"/>
              <a:ext cx="1334893" cy="783863"/>
            </a:xfrm>
            <a:prstGeom prst="rect">
              <a:avLst/>
            </a:prstGeom>
          </p:spPr>
          <p:txBody>
            <a:bodyPr anchor="ctr" rtlCol="false" tIns="50800" lIns="50800" bIns="50800" rIns="50800"/>
            <a:lstStyle/>
            <a:p>
              <a:pPr algn="ctr">
                <a:lnSpc>
                  <a:spcPts val="6249"/>
                </a:lnSpc>
              </a:pPr>
            </a:p>
          </p:txBody>
        </p:sp>
      </p:grpSp>
      <p:sp>
        <p:nvSpPr>
          <p:cNvPr name="AutoShape 8" id="8"/>
          <p:cNvSpPr/>
          <p:nvPr/>
        </p:nvSpPr>
        <p:spPr>
          <a:xfrm flipV="true">
            <a:off x="-480183" y="5114925"/>
            <a:ext cx="6337809" cy="14287"/>
          </a:xfrm>
          <a:prstGeom prst="line">
            <a:avLst/>
          </a:prstGeom>
          <a:ln cap="flat" w="28575">
            <a:solidFill>
              <a:srgbClr val="000000"/>
            </a:solidFill>
            <a:prstDash val="solid"/>
            <a:headEnd type="none" len="sm" w="sm"/>
            <a:tailEnd type="none" len="sm" w="sm"/>
          </a:ln>
        </p:spPr>
      </p:sp>
      <p:sp>
        <p:nvSpPr>
          <p:cNvPr name="Freeform 9" id="9"/>
          <p:cNvSpPr/>
          <p:nvPr/>
        </p:nvSpPr>
        <p:spPr>
          <a:xfrm flipH="false" flipV="false" rot="0">
            <a:off x="6725533" y="446494"/>
            <a:ext cx="11301259" cy="6229819"/>
          </a:xfrm>
          <a:custGeom>
            <a:avLst/>
            <a:gdLst/>
            <a:ahLst/>
            <a:cxnLst/>
            <a:rect r="r" b="b" t="t" l="l"/>
            <a:pathLst>
              <a:path h="6229819" w="11301259">
                <a:moveTo>
                  <a:pt x="0" y="0"/>
                </a:moveTo>
                <a:lnTo>
                  <a:pt x="11301259" y="0"/>
                </a:lnTo>
                <a:lnTo>
                  <a:pt x="11301259" y="6229819"/>
                </a:lnTo>
                <a:lnTo>
                  <a:pt x="0" y="6229819"/>
                </a:lnTo>
                <a:lnTo>
                  <a:pt x="0" y="0"/>
                </a:lnTo>
                <a:close/>
              </a:path>
            </a:pathLst>
          </a:custGeom>
          <a:blipFill>
            <a:blip r:embed="rId2"/>
            <a:stretch>
              <a:fillRect l="0" t="0" r="0" b="0"/>
            </a:stretch>
          </a:blipFill>
        </p:spPr>
      </p:sp>
      <p:sp>
        <p:nvSpPr>
          <p:cNvPr name="TextBox 10" id="10"/>
          <p:cNvSpPr txBox="true"/>
          <p:nvPr/>
        </p:nvSpPr>
        <p:spPr>
          <a:xfrm rot="0">
            <a:off x="341246" y="6739120"/>
            <a:ext cx="8114480" cy="3587576"/>
          </a:xfrm>
          <a:prstGeom prst="rect">
            <a:avLst/>
          </a:prstGeom>
        </p:spPr>
        <p:txBody>
          <a:bodyPr anchor="t" rtlCol="false" tIns="0" lIns="0" bIns="0" rIns="0">
            <a:spAutoFit/>
          </a:bodyPr>
          <a:lstStyle/>
          <a:p>
            <a:pPr algn="l">
              <a:lnSpc>
                <a:spcPts val="3999"/>
              </a:lnSpc>
            </a:pPr>
            <a:r>
              <a:rPr lang="en-US" sz="2499" b="true">
                <a:solidFill>
                  <a:srgbClr val="2E2E2E"/>
                </a:solidFill>
                <a:latin typeface="Poppins Bold"/>
                <a:ea typeface="Poppins Bold"/>
                <a:cs typeface="Poppins Bold"/>
                <a:sym typeface="Poppins Bold"/>
              </a:rPr>
              <a:t>Insights:</a:t>
            </a:r>
          </a:p>
          <a:p>
            <a:pPr algn="l">
              <a:lnSpc>
                <a:spcPts val="2559"/>
              </a:lnSpc>
            </a:pPr>
            <a:r>
              <a:rPr lang="en-US" sz="1599">
                <a:solidFill>
                  <a:srgbClr val="2E2E2E"/>
                </a:solidFill>
                <a:latin typeface="Poppins"/>
                <a:ea typeface="Poppins"/>
                <a:cs typeface="Poppins"/>
                <a:sym typeface="Poppins"/>
              </a:rPr>
              <a:t>•</a:t>
            </a:r>
            <a:r>
              <a:rPr lang="en-US" sz="1599" b="true">
                <a:solidFill>
                  <a:srgbClr val="2E2E2E"/>
                </a:solidFill>
                <a:latin typeface="Poppins Bold"/>
                <a:ea typeface="Poppins Bold"/>
                <a:cs typeface="Poppins Bold"/>
                <a:sym typeface="Poppins Bold"/>
              </a:rPr>
              <a:t>Credit Card Info Save</a:t>
            </a:r>
            <a:r>
              <a:rPr lang="en-US" sz="1599">
                <a:solidFill>
                  <a:srgbClr val="2E2E2E"/>
                </a:solidFill>
                <a:latin typeface="Poppins"/>
                <a:ea typeface="Poppins"/>
                <a:cs typeface="Poppins"/>
                <a:sym typeface="Poppins"/>
              </a:rPr>
              <a:t>: Customers who save their credit card info are much less likely to churn. Not saving info correlates with higher churn.</a:t>
            </a:r>
          </a:p>
          <a:p>
            <a:pPr algn="l">
              <a:lnSpc>
                <a:spcPts val="2559"/>
              </a:lnSpc>
            </a:pPr>
            <a:r>
              <a:rPr lang="en-US" sz="1599">
                <a:solidFill>
                  <a:srgbClr val="2E2E2E"/>
                </a:solidFill>
                <a:latin typeface="Poppins"/>
                <a:ea typeface="Poppins"/>
                <a:cs typeface="Poppins"/>
                <a:sym typeface="Poppins"/>
              </a:rPr>
              <a:t>•</a:t>
            </a:r>
            <a:r>
              <a:rPr lang="en-US" sz="1599" b="true">
                <a:solidFill>
                  <a:srgbClr val="2E2E2E"/>
                </a:solidFill>
                <a:latin typeface="Poppins Bold"/>
                <a:ea typeface="Poppins Bold"/>
                <a:cs typeface="Poppins Bold"/>
                <a:sym typeface="Poppins Bold"/>
              </a:rPr>
              <a:t>Push Status</a:t>
            </a:r>
            <a:r>
              <a:rPr lang="en-US" sz="1599">
                <a:solidFill>
                  <a:srgbClr val="2E2E2E"/>
                </a:solidFill>
                <a:latin typeface="Poppins"/>
                <a:ea typeface="Poppins"/>
                <a:cs typeface="Poppins"/>
                <a:sym typeface="Poppins"/>
              </a:rPr>
              <a:t>: Customers with push notifications enabled have lower churn rates. Most customers without push notifications churn more.Location </a:t>
            </a:r>
          </a:p>
          <a:p>
            <a:pPr algn="l">
              <a:lnSpc>
                <a:spcPts val="2559"/>
              </a:lnSpc>
            </a:pPr>
            <a:r>
              <a:rPr lang="en-US" sz="1599">
                <a:solidFill>
                  <a:srgbClr val="2E2E2E"/>
                </a:solidFill>
                <a:latin typeface="Poppins"/>
                <a:ea typeface="Poppins"/>
                <a:cs typeface="Poppins"/>
                <a:sym typeface="Poppins"/>
              </a:rPr>
              <a:t>•</a:t>
            </a:r>
            <a:r>
              <a:rPr lang="en-US" sz="1599" b="true">
                <a:solidFill>
                  <a:srgbClr val="2E2E2E"/>
                </a:solidFill>
                <a:latin typeface="Poppins Bold"/>
                <a:ea typeface="Poppins Bold"/>
                <a:cs typeface="Poppins Bold"/>
                <a:sym typeface="Poppins Bold"/>
              </a:rPr>
              <a:t>Code 415: </a:t>
            </a:r>
            <a:r>
              <a:rPr lang="en-US" sz="1599">
                <a:solidFill>
                  <a:srgbClr val="2E2E2E"/>
                </a:solidFill>
                <a:latin typeface="Poppins"/>
                <a:ea typeface="Poppins"/>
                <a:cs typeface="Poppins"/>
                <a:sym typeface="Poppins"/>
              </a:rPr>
              <a:t>This location has a lower churn rate compared to others, indicating better customer retention.Location </a:t>
            </a:r>
          </a:p>
          <a:p>
            <a:pPr algn="l">
              <a:lnSpc>
                <a:spcPts val="2559"/>
              </a:lnSpc>
            </a:pPr>
            <a:r>
              <a:rPr lang="en-US" sz="1599">
                <a:solidFill>
                  <a:srgbClr val="2E2E2E"/>
                </a:solidFill>
                <a:latin typeface="Poppins"/>
                <a:ea typeface="Poppins"/>
                <a:cs typeface="Poppins"/>
                <a:sym typeface="Poppins"/>
              </a:rPr>
              <a:t>•</a:t>
            </a:r>
            <a:r>
              <a:rPr lang="en-US" sz="1599" b="true">
                <a:solidFill>
                  <a:srgbClr val="2E2E2E"/>
                </a:solidFill>
                <a:latin typeface="Poppins Bold"/>
                <a:ea typeface="Poppins Bold"/>
                <a:cs typeface="Poppins Bold"/>
                <a:sym typeface="Poppins Bold"/>
              </a:rPr>
              <a:t>Code 510: </a:t>
            </a:r>
            <a:r>
              <a:rPr lang="en-US" sz="1599">
                <a:solidFill>
                  <a:srgbClr val="2E2E2E"/>
                </a:solidFill>
                <a:latin typeface="Poppins"/>
                <a:ea typeface="Poppins"/>
                <a:cs typeface="Poppins"/>
                <a:sym typeface="Poppins"/>
              </a:rPr>
              <a:t>Churn is slightly higher here than in Location Code 415, suggesting the need for more targeted retention efforts.</a:t>
            </a:r>
          </a:p>
          <a:p>
            <a:pPr algn="l">
              <a:lnSpc>
                <a:spcPts val="3999"/>
              </a:lnSpc>
            </a:pPr>
          </a:p>
        </p:txBody>
      </p:sp>
      <p:sp>
        <p:nvSpPr>
          <p:cNvPr name="TextBox 11" id="11"/>
          <p:cNvSpPr txBox="true"/>
          <p:nvPr/>
        </p:nvSpPr>
        <p:spPr>
          <a:xfrm rot="0">
            <a:off x="998375" y="2288179"/>
            <a:ext cx="4859252" cy="2594074"/>
          </a:xfrm>
          <a:prstGeom prst="rect">
            <a:avLst/>
          </a:prstGeom>
        </p:spPr>
        <p:txBody>
          <a:bodyPr anchor="t" rtlCol="false" tIns="0" lIns="0" bIns="0" rIns="0">
            <a:spAutoFit/>
          </a:bodyPr>
          <a:lstStyle/>
          <a:p>
            <a:pPr algn="l">
              <a:lnSpc>
                <a:spcPts val="5000"/>
              </a:lnSpc>
            </a:pPr>
            <a:r>
              <a:rPr lang="en-US" sz="5000" b="true">
                <a:solidFill>
                  <a:srgbClr val="8D0000"/>
                </a:solidFill>
                <a:latin typeface="Poppins Bold"/>
                <a:ea typeface="Poppins Bold"/>
                <a:cs typeface="Poppins Bold"/>
                <a:sym typeface="Poppins Bold"/>
              </a:rPr>
              <a:t>CHURN AGAINST THE CATEGORICAL DATA</a:t>
            </a:r>
          </a:p>
        </p:txBody>
      </p:sp>
      <p:sp>
        <p:nvSpPr>
          <p:cNvPr name="TextBox 12" id="12"/>
          <p:cNvSpPr txBox="true"/>
          <p:nvPr/>
        </p:nvSpPr>
        <p:spPr>
          <a:xfrm rot="0">
            <a:off x="8852275" y="7073776"/>
            <a:ext cx="8063114" cy="2603962"/>
          </a:xfrm>
          <a:prstGeom prst="rect">
            <a:avLst/>
          </a:prstGeom>
        </p:spPr>
        <p:txBody>
          <a:bodyPr anchor="t" rtlCol="false" tIns="0" lIns="0" bIns="0" rIns="0">
            <a:spAutoFit/>
          </a:bodyPr>
          <a:lstStyle/>
          <a:p>
            <a:pPr algn="l">
              <a:lnSpc>
                <a:spcPts val="2939"/>
              </a:lnSpc>
              <a:spcBef>
                <a:spcPct val="0"/>
              </a:spcBef>
            </a:pPr>
            <a:r>
              <a:rPr lang="en-US" b="true" sz="2099">
                <a:solidFill>
                  <a:srgbClr val="000000"/>
                </a:solidFill>
                <a:latin typeface="Poppins Bold"/>
                <a:ea typeface="Poppins Bold"/>
                <a:cs typeface="Poppins Bold"/>
                <a:sym typeface="Poppins Bold"/>
              </a:rPr>
              <a:t>Recommendations:</a:t>
            </a:r>
          </a:p>
          <a:p>
            <a:pPr algn="l">
              <a:lnSpc>
                <a:spcPts val="2939"/>
              </a:lnSpc>
              <a:spcBef>
                <a:spcPct val="0"/>
              </a:spcBef>
            </a:pPr>
            <a:r>
              <a:rPr lang="en-US" sz="2099">
                <a:solidFill>
                  <a:srgbClr val="000000"/>
                </a:solidFill>
                <a:latin typeface="Poppins"/>
                <a:ea typeface="Poppins"/>
                <a:cs typeface="Poppins"/>
                <a:sym typeface="Poppins"/>
              </a:rPr>
              <a:t>•Encourage saving payment info to reduce churn.</a:t>
            </a:r>
          </a:p>
          <a:p>
            <a:pPr algn="l">
              <a:lnSpc>
                <a:spcPts val="2939"/>
              </a:lnSpc>
              <a:spcBef>
                <a:spcPct val="0"/>
              </a:spcBef>
            </a:pPr>
            <a:r>
              <a:rPr lang="en-US" sz="2099">
                <a:solidFill>
                  <a:srgbClr val="000000"/>
                </a:solidFill>
                <a:latin typeface="Poppins"/>
                <a:ea typeface="Poppins"/>
                <a:cs typeface="Poppins"/>
                <a:sym typeface="Poppins"/>
              </a:rPr>
              <a:t>•Promote push notifications to engage and retain customers.</a:t>
            </a:r>
          </a:p>
          <a:p>
            <a:pPr algn="l">
              <a:lnSpc>
                <a:spcPts val="2939"/>
              </a:lnSpc>
              <a:spcBef>
                <a:spcPct val="0"/>
              </a:spcBef>
            </a:pPr>
            <a:r>
              <a:rPr lang="en-US" sz="2099">
                <a:solidFill>
                  <a:srgbClr val="000000"/>
                </a:solidFill>
                <a:latin typeface="Poppins"/>
                <a:ea typeface="Poppins"/>
                <a:cs typeface="Poppins"/>
                <a:sym typeface="Poppins"/>
              </a:rPr>
              <a:t>•Target Location Code 510 with specific retention strategies.</a:t>
            </a:r>
          </a:p>
          <a:p>
            <a:pPr algn="l">
              <a:lnSpc>
                <a:spcPts val="2939"/>
              </a:lnSpc>
              <a:spcBef>
                <a:spcPct val="0"/>
              </a:spcBef>
            </a:pPr>
            <a:r>
              <a:rPr lang="en-US" sz="2099">
                <a:solidFill>
                  <a:srgbClr val="000000"/>
                </a:solidFill>
                <a:latin typeface="Poppins"/>
                <a:ea typeface="Poppins"/>
                <a:cs typeface="Poppins"/>
                <a:sym typeface="Poppins"/>
              </a:rPr>
              <a:t>•Maintain efforts in Location Code 415 to keep churn low.</a:t>
            </a:r>
          </a:p>
          <a:p>
            <a:pPr algn="l">
              <a:lnSpc>
                <a:spcPts val="2939"/>
              </a:lnSpc>
              <a:spcBef>
                <a:spcPct val="0"/>
              </a:spcBef>
            </a:pPr>
            <a:r>
              <a:rPr lang="en-US" sz="2099">
                <a:solidFill>
                  <a:srgbClr val="000000"/>
                </a:solidFill>
                <a:latin typeface="Poppins"/>
                <a:ea typeface="Poppins"/>
                <a:cs typeface="Poppins"/>
                <a:sym typeface="Poppins"/>
              </a:rPr>
              <a:t> </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585032" y="4021447"/>
            <a:ext cx="8373354" cy="1122028"/>
          </a:xfrm>
          <a:prstGeom prst="rect">
            <a:avLst/>
          </a:prstGeom>
        </p:spPr>
        <p:txBody>
          <a:bodyPr anchor="t" rtlCol="false" tIns="0" lIns="0" bIns="0" rIns="0">
            <a:spAutoFit/>
          </a:bodyPr>
          <a:lstStyle/>
          <a:p>
            <a:pPr algn="ctr">
              <a:lnSpc>
                <a:spcPts val="7800"/>
              </a:lnSpc>
            </a:pPr>
            <a:r>
              <a:rPr lang="en-US" b="true" sz="7800">
                <a:solidFill>
                  <a:srgbClr val="8D0000"/>
                </a:solidFill>
                <a:latin typeface="Poppins Bold"/>
                <a:ea typeface="Poppins Bold"/>
                <a:cs typeface="Poppins Bold"/>
                <a:sym typeface="Poppins Bold"/>
              </a:rPr>
              <a:t>THANK YOU!</a:t>
            </a:r>
          </a:p>
        </p:txBody>
      </p:sp>
      <p:grpSp>
        <p:nvGrpSpPr>
          <p:cNvPr name="Group 3" id="3"/>
          <p:cNvGrpSpPr/>
          <p:nvPr/>
        </p:nvGrpSpPr>
        <p:grpSpPr>
          <a:xfrm rot="-3503507">
            <a:off x="-2356457" y="6564794"/>
            <a:ext cx="5968439" cy="2484763"/>
            <a:chOff x="0" y="0"/>
            <a:chExt cx="1571935" cy="654423"/>
          </a:xfrm>
        </p:grpSpPr>
        <p:sp>
          <p:nvSpPr>
            <p:cNvPr name="Freeform 4" id="4"/>
            <p:cNvSpPr/>
            <p:nvPr/>
          </p:nvSpPr>
          <p:spPr>
            <a:xfrm flipH="false" flipV="false" rot="0">
              <a:off x="0" y="0"/>
              <a:ext cx="1571935" cy="654423"/>
            </a:xfrm>
            <a:custGeom>
              <a:avLst/>
              <a:gdLst/>
              <a:ahLst/>
              <a:cxnLst/>
              <a:rect r="r" b="b" t="t" l="l"/>
              <a:pathLst>
                <a:path h="654423" w="1571935">
                  <a:moveTo>
                    <a:pt x="66154" y="0"/>
                  </a:moveTo>
                  <a:lnTo>
                    <a:pt x="1505780" y="0"/>
                  </a:lnTo>
                  <a:cubicBezTo>
                    <a:pt x="1523326" y="0"/>
                    <a:pt x="1540152" y="6970"/>
                    <a:pt x="1552558" y="19376"/>
                  </a:cubicBezTo>
                  <a:cubicBezTo>
                    <a:pt x="1564965" y="31782"/>
                    <a:pt x="1571935" y="48609"/>
                    <a:pt x="1571935" y="66154"/>
                  </a:cubicBezTo>
                  <a:lnTo>
                    <a:pt x="1571935" y="588269"/>
                  </a:lnTo>
                  <a:cubicBezTo>
                    <a:pt x="1571935" y="624805"/>
                    <a:pt x="1542316" y="654423"/>
                    <a:pt x="1505780" y="654423"/>
                  </a:cubicBezTo>
                  <a:lnTo>
                    <a:pt x="66154" y="654423"/>
                  </a:lnTo>
                  <a:cubicBezTo>
                    <a:pt x="29618" y="654423"/>
                    <a:pt x="0" y="624805"/>
                    <a:pt x="0" y="588269"/>
                  </a:cubicBezTo>
                  <a:lnTo>
                    <a:pt x="0" y="66154"/>
                  </a:lnTo>
                  <a:cubicBezTo>
                    <a:pt x="0" y="29618"/>
                    <a:pt x="29618" y="0"/>
                    <a:pt x="66154" y="0"/>
                  </a:cubicBezTo>
                  <a:close/>
                </a:path>
              </a:pathLst>
            </a:custGeom>
            <a:solidFill>
              <a:srgbClr val="FFE9E9"/>
            </a:solidFill>
          </p:spPr>
        </p:sp>
        <p:sp>
          <p:nvSpPr>
            <p:cNvPr name="TextBox 5" id="5"/>
            <p:cNvSpPr txBox="true"/>
            <p:nvPr/>
          </p:nvSpPr>
          <p:spPr>
            <a:xfrm>
              <a:off x="0" y="-333375"/>
              <a:ext cx="1571935" cy="987798"/>
            </a:xfrm>
            <a:prstGeom prst="rect">
              <a:avLst/>
            </a:prstGeom>
          </p:spPr>
          <p:txBody>
            <a:bodyPr anchor="ctr" rtlCol="false" tIns="50800" lIns="50800" bIns="50800" rIns="50800"/>
            <a:lstStyle/>
            <a:p>
              <a:pPr algn="ctr">
                <a:lnSpc>
                  <a:spcPts val="6249"/>
                </a:lnSpc>
              </a:pPr>
            </a:p>
          </p:txBody>
        </p:sp>
      </p:grpSp>
      <p:grpSp>
        <p:nvGrpSpPr>
          <p:cNvPr name="Group 6" id="6"/>
          <p:cNvGrpSpPr/>
          <p:nvPr/>
        </p:nvGrpSpPr>
        <p:grpSpPr>
          <a:xfrm rot="-3503507">
            <a:off x="14958997" y="1874234"/>
            <a:ext cx="6145518" cy="2741564"/>
            <a:chOff x="0" y="0"/>
            <a:chExt cx="1618573" cy="722058"/>
          </a:xfrm>
        </p:grpSpPr>
        <p:sp>
          <p:nvSpPr>
            <p:cNvPr name="Freeform 7" id="7"/>
            <p:cNvSpPr/>
            <p:nvPr/>
          </p:nvSpPr>
          <p:spPr>
            <a:xfrm flipH="false" flipV="false" rot="0">
              <a:off x="0" y="0"/>
              <a:ext cx="1618573" cy="722058"/>
            </a:xfrm>
            <a:custGeom>
              <a:avLst/>
              <a:gdLst/>
              <a:ahLst/>
              <a:cxnLst/>
              <a:rect r="r" b="b" t="t" l="l"/>
              <a:pathLst>
                <a:path h="722058" w="1618573">
                  <a:moveTo>
                    <a:pt x="64248" y="0"/>
                  </a:moveTo>
                  <a:lnTo>
                    <a:pt x="1554325" y="0"/>
                  </a:lnTo>
                  <a:cubicBezTo>
                    <a:pt x="1571364" y="0"/>
                    <a:pt x="1587706" y="6769"/>
                    <a:pt x="1599755" y="18818"/>
                  </a:cubicBezTo>
                  <a:cubicBezTo>
                    <a:pt x="1611804" y="30867"/>
                    <a:pt x="1618573" y="47208"/>
                    <a:pt x="1618573" y="64248"/>
                  </a:cubicBezTo>
                  <a:lnTo>
                    <a:pt x="1618573" y="657810"/>
                  </a:lnTo>
                  <a:cubicBezTo>
                    <a:pt x="1618573" y="674850"/>
                    <a:pt x="1611804" y="691191"/>
                    <a:pt x="1599755" y="703240"/>
                  </a:cubicBezTo>
                  <a:cubicBezTo>
                    <a:pt x="1587706" y="715289"/>
                    <a:pt x="1571364" y="722058"/>
                    <a:pt x="1554325" y="722058"/>
                  </a:cubicBezTo>
                  <a:lnTo>
                    <a:pt x="64248" y="722058"/>
                  </a:lnTo>
                  <a:cubicBezTo>
                    <a:pt x="47208" y="722058"/>
                    <a:pt x="30867" y="715289"/>
                    <a:pt x="18818" y="703240"/>
                  </a:cubicBezTo>
                  <a:cubicBezTo>
                    <a:pt x="6769" y="691191"/>
                    <a:pt x="0" y="674850"/>
                    <a:pt x="0" y="657810"/>
                  </a:cubicBezTo>
                  <a:lnTo>
                    <a:pt x="0" y="64248"/>
                  </a:lnTo>
                  <a:cubicBezTo>
                    <a:pt x="0" y="47208"/>
                    <a:pt x="6769" y="30867"/>
                    <a:pt x="18818" y="18818"/>
                  </a:cubicBezTo>
                  <a:cubicBezTo>
                    <a:pt x="30867" y="6769"/>
                    <a:pt x="47208" y="0"/>
                    <a:pt x="64248" y="0"/>
                  </a:cubicBezTo>
                  <a:close/>
                </a:path>
              </a:pathLst>
            </a:custGeom>
            <a:solidFill>
              <a:srgbClr val="FFE9E9"/>
            </a:solidFill>
          </p:spPr>
        </p:sp>
        <p:sp>
          <p:nvSpPr>
            <p:cNvPr name="TextBox 8" id="8"/>
            <p:cNvSpPr txBox="true"/>
            <p:nvPr/>
          </p:nvSpPr>
          <p:spPr>
            <a:xfrm>
              <a:off x="0" y="-333375"/>
              <a:ext cx="1618573" cy="1055433"/>
            </a:xfrm>
            <a:prstGeom prst="rect">
              <a:avLst/>
            </a:prstGeom>
          </p:spPr>
          <p:txBody>
            <a:bodyPr anchor="ctr" rtlCol="false" tIns="50800" lIns="50800" bIns="50800" rIns="50800"/>
            <a:lstStyle/>
            <a:p>
              <a:pPr algn="ctr">
                <a:lnSpc>
                  <a:spcPts val="6249"/>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DAG28L7yYCc</dc:identifier>
  <dcterms:modified xsi:type="dcterms:W3CDTF">2011-08-01T06:04:30Z</dcterms:modified>
  <cp:revision>1</cp:revision>
  <dc:title>Customer Behavior Analysis</dc:title>
</cp:coreProperties>
</file>